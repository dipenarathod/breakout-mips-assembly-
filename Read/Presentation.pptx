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6" r:id="rId6"/>
    <p:sldId id="261" r:id="rId7"/>
    <p:sldId id="259" r:id="rId8"/>
    <p:sldId id="262" r:id="rId9"/>
    <p:sldId id="264" r:id="rId10"/>
    <p:sldId id="265" r:id="rId11"/>
    <p:sldId id="267" r:id="rId12"/>
    <p:sldId id="268" r:id="rId13"/>
    <p:sldId id="269" r:id="rId14"/>
    <p:sldId id="270" r:id="rId1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04.7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24575,'1'22'0,"1"0"0,1 0 0,1 0 0,1 0 0,11 26 0,2 13 0,15 106 0,-20-106 0,37 143 0,-10-76 0,22 119 0,-60-238 0,1 0 0,0-1 0,0 1 0,1-1 0,0 1 0,1-1 0,-1-1 0,11 14 0,54 49 0,-50-52 0,-19-18 0,1 1 0,-1-1 0,0 1 0,1-1 0,-1 1 0,0-1 0,1 0 0,-1 1 0,1-1 0,-1 0 0,1 1 0,-1-1 0,1 0 0,-1 0 0,1 1 0,-1-1 0,1 0 0,-1 0 0,1 0 0,-1 0 0,1 1 0,-1-1 0,1 0 0,-1 0 0,1 0 0,0 0 0,-1 0 0,1-1 0,-1 1 0,1 0 0,-1 0 0,1 0 0,-1 0 0,1-1 0,-1 1 0,1 0 0,-1 0 0,1-1 0,-1 1 0,1 0 0,-1-1 0,0 1 0,1-1 0,-1 1 0,1 0 0,-1-1 0,0 1 0,0-1 0,1 1 0,-1-1 0,0 1 0,0-1 0,1 1 0,-1-1 0,0 1 0,0-1 0,0 1 0,0-2 0,7-45 0,-5 26 0,4-7 0,44-235 0,-43 222 0,3 0 0,1 0 0,2 2 0,2-1 0,36-68 0,-26 55 0,-12 22 0,-2 0 0,-1-1 0,7-40 0,-15 65 0,1-1 0,0 0 0,1 1 0,-1 0 0,1 0 0,9-12 0,10-18 0,-5 1-48,22-54-1269,-34 70-5509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06.9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23917,'187'899'0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10.2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434 0 24325,'-434'961'0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18.7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24575,'2'13'0,"-1"0"0,2 0 0,0 0 0,5 17 0,4 11 0,51 179 0,-61-212 0,1-1 0,0 0 0,0 0 0,0 0 0,1 0 0,7 10 0,-6-11 0,-1 1 0,0-1 0,-1 1 0,1 0 0,-1 0 0,-1 0 0,4 12 0,-3-4 0,1 0 0,0 0 0,1-1 0,0 0 0,15 27 0,42 82 0,-11-30 0,-26-46 0,1-1 0,46 60 0,-45-66 0,-22-32 0,-1 0 0,1 0 0,1-1 0,0 0 0,0 0 0,0-1 0,9 8 0,-7-8 0,-1 1 0,0 0 0,0 0 0,-1 1 0,0-1 0,9 16 0,12 16 0,-26-38 0,0 0 0,0 0 0,0 1 0,0-1 0,0 0 0,0 0 0,0 0 0,0-1 0,0 1 0,1 0 0,-1 0 0,0-1 0,1 1 0,-1 0 0,1-1 0,-1 0 0,1 1 0,-1-1 0,0 0 0,1 0 0,-1 1 0,1-1 0,-1 0 0,1-1 0,-1 1 0,1 0 0,-1 0 0,1-1 0,-1 1 0,1-1 0,-1 1 0,1-1 0,-1 1 0,0-1 0,0 0 0,1 0 0,-1 0 0,2-1 0,6-6 0,-1 0 0,-1 0 0,1-1 0,8-14 0,4-3 0,116-135 0,-57 86 0,-20 9 0,-39 45 0,-1-1 0,0-1 0,-1 0 0,25-47 0,-27 39 0,2 1 0,1 1 0,1 0 0,2 1 0,40-40 0,-23 15-1365,-27 38-5461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23.4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 24575,'70'-2'0,"-43"0"0,1 1 0,0 2 0,0 0 0,34 8 0,-46-3 0,1 0 0,-1 2 0,0 0 0,-1 1 0,0 0 0,0 1 0,14 14 0,25 14 0,26 25 0,-63-47 0,1-2 0,0 0 0,1-1 0,24 13 0,-41-25 0,1 0 0,-1 0 0,1 0 0,-1 0 0,0 1 0,1-1 0,-1 1 0,0-1 0,0 1 0,0 0 0,0 0 0,0 0 0,-1 0 0,1 1 0,-1-1 0,1 0 0,-1 1 0,0-1 0,0 1 0,0-1 0,0 1 0,0-1 0,0 1 0,-1 0 0,1-1 0,-1 1 0,0 0 0,0 0 0,0 3 0,-1-1 0,-1-1 0,1 1 0,-1-1 0,0 0 0,0 1 0,-1-1 0,1 0 0,-1 0 0,0-1 0,0 1 0,0 0 0,0-1 0,-1 0 0,1 0 0,-1 0 0,-4 3 0,-56 37 0,2 4 0,-75 72 0,122-105 0,-1-1 0,-23 15 0,-30 24 0,-32 65 0,86-103-1365,-1-4-5461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25.0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3319 2 24575,'-90'-2'0,"-99"5"0,160 1 0,0 1 0,-46 16 0,50-13 0,-1-1 0,0-1 0,-43 4 0,-25-7 0,35-2 0,-96 14 0,106-9 0,1-2 0,-72-4 0,-37 3 0,73 12 0,61-10 0,-1-1 0,-31 2 0,10-5 0,10-1 0,-1 2 0,1 1 0,-44 10 0,54-9 0,0 0 0,-49 0 0,50-4 0,0 1 0,0 1 0,-34 8 0,8-1 0,0-2 0,-1-2 0,0-2 0,-81-7 0,20 2 0,-725 2 0,820 1-311,-1 1 0,1 1 0,-34 9 0,50-12 190,-20 6-6705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26.8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719 0 24575,'-9'2'0,"1"-1"0,0 1 0,0 1 0,0 0 0,0 0 0,0 0 0,1 1 0,-1 0 0,1 1 0,0-1 0,0 2 0,1-1 0,-10 10 0,-45 29 0,-53 27 0,38-21 0,-48 11 0,69-28 0,-48 24 0,93-52 0,0 0 0,0 1 0,-15 11 0,24-16 0,-1 1 0,1-1 0,0 0 0,0 0 0,-1 1 0,1-1 0,0 1 0,0-1 0,0 1 0,0-1 0,1 1 0,-1-1 0,0 1 0,0 2 0,1-3 0,0 0 0,0-1 0,1 1 0,-1 0 0,0 0 0,0 0 0,1 0 0,-1 0 0,0 0 0,1 0 0,-1 0 0,1-1 0,-1 1 0,1 0 0,0 0 0,-1-1 0,1 1 0,0 0 0,-1-1 0,1 1 0,0 0 0,0-1 0,0 1 0,-1-1 0,1 0 0,0 1 0,0-1 0,1 1 0,83 30 0,-59-23 0,-1 1 0,33 17 0,-16-6 0,79 27 0,-90-37 0,-1 0 0,0 2 0,-1 2 0,0 0 0,49 36 0,-69-45 14,-1 1-1,1-1 0,0 0 0,12 4 1,7 4-1446,-11-3-5394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28.2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68 24575,'715'0'0,"-685"-2"0,0-1 0,38-8 0,-35 4 0,54-2 0,-52 8 0,0-2 0,62-11 0,-46 6 0,1 2 0,1 2 0,98 7 0,-37 0 0,444-3 0,-535 1 0,1 2 0,40 8 0,-39-5 0,1-2 0,28 2 0,126-8 0,74 4 0,-158 13 0,-64-8 0,57 3 0,-26-9 0,-26-2 0,0 2 0,0 2 0,49 10 0,-36-5 0,1-2 0,0-2 0,-1-3 0,55-5 0,9 1 0,257 3-1365,-344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31.2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312 3248 24575,'-1'-14'0,"-1"1"0,-1 0 0,1 0 0,-7-16 0,-3-12 0,-22-116 0,21 90 0,7 41 0,1-1 0,-2-39 0,7 9 0,0 20 0,-1 1 0,-2-1 0,-11-57 0,8 56 0,1-1 0,1 0 0,3 0 0,4-56 0,-3-75 0,-15 86 0,10 61 0,1 0 0,-3-33 0,5 29 0,-11-53 0,7 53 0,1 0 0,0-29 0,4-35 0,3 50 0,-3 0 0,-2 0 0,-12-68 0,7 59 0,2 0 0,3-1 0,1 0 0,6-54 0,-1-9 0,-3 60 0,-2 1 0,-15-88 0,11 96 0,1-1 0,3 0 0,4-51 0,-4-71 0,-3 138 38,0 0-1,-16-45 0,13 48-406,1 0 0,1 0-1,-4-35 1,9 36-6457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33.0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1588 2622 24575,'-1'-9'0,"-1"1"0,1-1 0,-1 1 0,-1 0 0,-3-8 0,-4-16 0,-29-100 0,22 81 0,3 0 0,-9-59 0,19 90 0,-1 0 0,0 1 0,-15-34 0,-1-5 0,-49-225 0,67 269 0,-3-8 0,-1 1 0,-1 0 0,-21-40 0,-11-28 0,-30-95 0,53 150 0,-26-42 0,-7-14 0,34 61 0,-39-53 0,3 4 0,41 62 0,0 1 0,-1 0 0,-14-14 0,13 16 0,1-1 0,0 0 0,-14-24 0,8 12 0,0 1 0,-1 0 0,-2 2 0,-38-35 0,-30-33 0,-19-22 0,18 21 0,53 55 0,-2 1 0,-56-40 0,43 36 0,-79-60 0,97 73-1365,18 17-5461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34.8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94 3262 24575,'0'-7'0,"-1"0"0,-1 0 0,1 0 0,-1 0 0,-4-9 0,-5-23 0,1-59 0,8 62 0,-13-64 0,9 60 0,1 0 0,2 0 0,2 0 0,4-49 0,-3-83 0,-15 89 0,10 60 0,0-1 0,-1-32 0,6 40 0,2-247 0,27 77 0,-23 140 0,2-1 0,2 2 0,31-88 0,-17 59 0,-11 34 0,1 1 0,2 0 0,1 1 0,28-43 0,-8 6 0,-28 53 0,23-38 0,-6 19 0,-14 20 0,1 1 0,30-34 0,-7 7 0,-29 38 0,-1 0 0,1 0 0,1 1 0,-1-1 0,2 1 0,11-9 0,-5 6 0,-1-2 0,25-26 0,14-12 0,13-17 0,-3 4 0,146-136 0,-189 182 0,41-31 0,-8 9 0,21-15 0,12-11 0,-71 54 0,1 0 0,0 1 0,28-14 0,-26 16 0,-1-1 0,0-1 0,25-21 0,-35 26 19,1 1 0,-1 0-1,1 0 1,0 1 0,0 0-1,9-3 1,-7 3-318,-1 0 0,0 0-1,0-1 1,10-8 0,-5 1-6527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37.0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372 1 24575,'-2'4'0,"1"1"0,-1-1 0,0 1 0,0-1 0,0 0 0,-1 0 0,0 0 0,0 0 0,0-1 0,0 1 0,0-1 0,-1 1 0,-6 3 0,-14 19 0,-7 23 0,23-36 0,0 0 0,-1-1 0,0 1 0,0-2 0,-2 1 0,-12 10 0,-53 56 0,-38 24 0,114-102 0,-1 1 0,1-1 0,-1 0 0,1 1 0,-1-1 0,1 1 0,0-1 0,-1 0 0,1 1 0,-1-1 0,1 1 0,0-1 0,0 1 0,-1-1 0,1 1 0,0-1 0,0 1 0,0 0 0,-1-1 0,1 1 0,0-1 0,0 1 0,0-1 0,0 1 0,0-1 0,0 1 0,0 0 0,0-1 0,1 1 0,-1-1 0,0 1 0,0-1 0,1 2 0,18 6 0,39-7 0,-51-1 0,17 1 0,0-1 0,0-2 0,0 0 0,-1-1 0,1-2 0,-1 0 0,1-1 0,34-15 0,-40 14 0,0 1 0,1 1 0,-1 0 0,1 2 0,20-2 0,35-6 0,-38 5-201,0 2 0,0 1 1,44 3-1,-64 0-361,11 1-6264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38.9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0 565 24575,'7'-1'0,"0"0"0,0 0 0,0-1 0,0 0 0,9-4 0,22-5 0,132-31 0,-88 19 0,6-10 0,-25 8 0,29-7 0,-22 7 0,82-18 0,96-15 0,131-36-808,-337 85 808,-3 0 0,1 2 0,0 1 0,40 1 0,-57 3 58,-1-1 1,0 0 0,0-2-1,0-1 1,24-9 0,43-11 397,-55 19-456,1-1 0,1 1 0,0 2 0,41-1 0,-43 7 0,1-2 0,-1-1 0,62-13 0,-47 7 0,0 2 0,1 2 0,0 2 0,60 6 0,3-1 0,-3-4 0,121 3 0,-135 13 0,-64-8 0,57 3 0,34-12 0,-78 0 0,0 2 0,0 2 0,69 11 0,53 12 0,-68-12 0,-43-7 0,105-3 0,6 0 0,-75 11 0,14 2 0,-22-14 0,-47-3 0,1 3 0,-1 1 0,47 10 0,23 2 0,-84-13 0,0 0 0,0 2 0,0 1 0,41 13 0,-35-8 0,1-1 0,48 8 0,-16-4 0,48 2 0,-2 0 0,-28-7 107,-63-8-475,0 1 0,0 1 0,18 5 0,-14-1-6458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41.9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24575,'19'-1'0,"1"2"0,0 0 0,0 1 0,0 1 0,-1 1 0,1 1 0,-1 1 0,31 13 0,40 11 0,-65-24 0,43 18 0,-29-7 0,-22-11 0,-1 1 0,0 1 0,27 17 0,180 120 0,-202-134 0,-18-10 0,1 0 0,-1 0 0,0 0 0,0 1 0,0 0 0,0-1 0,0 1 0,0 0 0,-1 0 0,1 1 0,-1-1 0,5 5 0,-8-6 0,1 0 0,0 1 0,-1-1 0,1 0 0,0 0 0,-1 0 0,1 0 0,-1 0 0,0 0 0,1 0 0,-1 0 0,0 0 0,0 0 0,1 0 0,-1-1 0,0 1 0,0 0 0,0 0 0,0-1 0,0 1 0,0-1 0,-2 2 0,-26 13 0,-16 6 0,14-7 0,0 0 0,-1-2 0,-35 8 0,-24 8 108,-7 1-1581,75-25-5353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44.3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6357 65 24575,'-140'3'0,"-154"-7"0,264 0 0,0-2 0,-43-14 0,47 11 0,0 2 0,-1 1 0,-41-3 0,-406 6 0,236 6 0,-413-3 0,628 1 0,-1 2 0,-40 8 0,39-5 0,-1-2 0,-28 2 0,-44-7 0,60 0 0,0 1 0,0 2 0,-61 10 0,41-3 0,-1-2 0,0-3 0,-111-6 0,-71 4 0,157 12 0,61-8 0,0-2 0,-33 2 0,-72-7 0,-54 2 0,107 14 0,-6 0 0,-19 1 0,72-10 0,-1-1 0,-30 0 0,-134 16 0,108-9 0,16 1 0,48-8 0,0-1 0,-24 2 0,1-1 0,-49 11 0,49-8 0,-20 6 0,40-7 0,-1-2 0,-1-1 0,-25 1 0,-135-8 0,-92 5 0,194 13 0,61-10 0,-1 0 0,-32 1 0,-34-6 0,50-1 0,0 1 0,1 3 0,-74 13 0,81-10 0,0-2 0,0-1 0,0-2 0,-39-3 0,-58 4 0,100 1-273,0 3 0,0 0 0,0 2 0,-28 11 0,38-11-6553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46.6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0 596 24575,'1'-1'0,"-1"-1"0,1 0 0,0 1 0,-1-1 0,1 1 0,0-1 0,0 1 0,0 0 0,0-1 0,1 1 0,-1 0 0,0-1 0,0 1 0,1 0 0,-1 0 0,1 0 0,-1 0 0,3 0 0,34-19 0,-29 16 0,72-44 0,-58 32 0,1 2 0,1 1 0,33-13 0,-26 13 0,-1-2 0,49-30 0,-13 5 0,71-22 0,-34 17 0,77-52 0,-150 83 0,46-15 0,-46 19 0,51-26 0,-68 28 0,-11 6 0,0 0 0,0 1 0,0-1 0,0 0 0,0 1 0,1 0 0,-1 0 0,1 0 0,6-1 0,-9 2 0,0 1 0,1-1 0,-1 1 0,0-1 0,0 1 0,1 0 0,-1 0 0,0 0 0,0 0 0,0 0 0,0 0 0,0 0 0,0 0 0,-1 0 0,1 0 0,0 0 0,0 1 0,-1-1 0,1 0 0,-1 0 0,1 1 0,-1-1 0,0 0 0,1 1 0,-1-1 0,0 1 0,0-1 0,0 0 0,0 1 0,0-1 0,-1 2 0,4 28 0,-1 0 0,-2 1 0,-2-1 0,0 0 0,-2 0 0,-1-1 0,-13 42 0,15-67 0,1 1 0,-1 0 0,0-1 0,0 0 0,-1 1 0,1-1 0,-6 4 0,5-4 0,0 0 0,0 1 0,0-1 0,1 1 0,0-1 0,-5 11 0,-9 35-682,-47 95-1,55-129-6143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8:47.8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1477 0 24575,'-1'3'0,"0"0"0,0 0 0,0 0 0,0 0 0,0 0 0,-1 0 0,1 0 0,-1 0 0,0-1 0,0 1 0,0-1 0,0 1 0,0-1 0,0 0 0,-3 2 0,-39 30 0,14-13 0,-45 43 0,48-39 0,-49 35 0,63-51 0,1 1 0,0 0 0,-11 13 0,14-13 0,-1 0 0,0-1 0,0-1 0,-1 0 0,-13 8 0,-9 5 0,0 1 0,2 2 0,1 1 0,-35 38 0,-32 26 0,76-72 0,6-5 0,0 0 0,0 1 0,1 1 0,1 0 0,-17 24 0,22-28 0,0 0 0,0 0 0,-1 0 0,-12 8 0,11-8 0,-1 0 0,1 1 0,-9 12 0,-86 119 0,-100 181 0,187-294 0,2 1 0,0 1 0,3 0 0,-12 37 0,20-55 0,0 0 0,-1 0 0,-8 14 0,9-18 0,-1 0 0,2 1 0,-1 0 0,2 0 0,-1 0 0,-3 19 0,-31 148 0,14-76 0,9-54-1365,8-28-5461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9:55.5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1080 24575,'35'0'0,"-18"-1"0,-1 0 0,1 1 0,-1 1 0,1 0 0,-1 1 0,1 1 0,-1 1 0,0 0 0,0 1 0,28 14 0,-17-5 0,-15-8 0,-1 0 0,0 1 0,-1 0 0,19 16 0,-15-12 0,-1 0 0,2-1 0,-1 0 0,1-1 0,28 12 0,13 7 0,49 49 0,-33-27 0,-30-19 0,1-3 0,78 39 0,-79-46 0,75 50 0,-15-8 0,-89-55 0,-1 1 0,0 0 0,12 12 0,-13-11 0,0 0 0,1-1 0,18 10 0,-5-3 0,38 28 0,-42-27 0,1-2 0,32 18 0,32 18 0,-63-35 0,1-2 0,35 16 0,-58-29 0,0 0 0,1-1 0,-1 1 0,0-1 0,0 0 0,0 1 0,1-1 0,-1 0 0,0 0 0,0 0 0,1 0 0,-1 0 0,0 0 0,1 0 0,-1 0 0,0 0 0,0-1 0,1 1 0,-1-1 0,0 1 0,0-1 0,0 1 0,0-1 0,2 0 0,-2-1 0,1 0 0,-1 0 0,1 1 0,-1-1 0,0 0 0,0 0 0,0 0 0,0 0 0,0-1 0,0 1 0,-1 0 0,2-4 0,-1-9 0,1 0 0,-2 0 0,-1-23 0,0 25 0,-5-1042 0,8 615 0,-1 418 0,2-1 0,9-43 0,-6 42 0,-2-1 0,2-31 0,-6-98-1365,0 127-5461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49:58.4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901 10029 24575,'-2'-14'0,"0"0"0,-1 0 0,-1 1 0,0-1 0,-1 1 0,0-1 0,-14-22 0,-4-15 0,-106-249 0,70 140 0,26 49 0,25 78 0,-2 0 0,-26-60 0,24 65 0,1-1 0,2 0 0,1-1 0,2 0 0,1-1 0,-3-51 0,5 50 0,0 10 0,-2 0 0,0 0 0,-12-28 0,-7-30 0,1-12 0,7 29 0,-11-91 0,-5-20 0,6 43 0,12 48 0,4 37 0,3-2 0,-1-53 0,7 75 0,-2-1 0,-9-38 0,-1-5 0,9 50 0,-1 1 0,0 0 0,-11-23 0,9 25 0,1-1 0,0 1 0,1-1 0,-3-29 0,5 14 0,1-4 0,-13-59 0,-3-33 0,5 23 0,-2-35 0,13 101 0,-2 0 0,-2 0 0,-11-40 0,7 37 0,3 0 0,1 0 0,2-1 0,2 0 0,4-52 0,-5-87 0,-11 80 0,7 64 0,-3-67 0,12-1102 0,-4 1185 0,0 1 0,-10-44 0,6 42 0,2-1 0,-3-31 0,6-619 0,3 327 0,-5 208 0,7-153 0,11 219 0,0-8 0,-13 66 0,1-1 0,0 1 0,1 0 0,1 0 0,10-21 0,3-12 0,5-50 0,-13 45 0,-4 22 0,1 1 0,2 0 0,1 0 0,2 0 0,23-43 0,-29 61 0,0 0 0,-1-1 0,0 1 0,3-19 0,-3 15 0,-1 1 0,13-27 0,23-58 0,-31 75 0,1 0 0,1 0 0,18-30 0,-12 26 0,-2-1 0,-1 0 0,-2-1 0,13-48 0,-22 74 0,-1 0 0,1 0 0,0 0 0,0 0 0,1 1 0,7-9 0,-7 9 0,0-1 0,0 1 0,0-1 0,-1 0 0,0 0 0,3-8 0,6-27 0,-5 16 0,1-1 0,1 1 0,1 1 0,22-37 0,-16 31 0,23-54 0,-27 56 0,0 1 0,1 1 0,20-28 0,32-51 0,-38 57 0,-12 15 0,-12 27 0,-1 0 0,1 0 0,0 0 0,0 0 0,1 1 0,5-8 0,1 1 0,-1-1 0,0 0 0,11-23 0,-13 22 0,1 0 0,0 0 0,18-20 0,0 2 0,-19 22 0,0 1 0,0 0 0,18-14 0,86-83 0,-73 73 0,-2-2 0,57-72 0,10-5 0,-94 102 0,0 1 0,0 1 0,17-13 0,-16 14 0,-1 0 0,0-1 0,-1 0 0,0 0 0,8-10 0,-14 15 0,8-10 0,0-2 0,-1 1 0,-1-1 0,10-23 0,-16 34-151,-1 0-1,1 0 0,0 0 0,0 1 1,1-1-1,-1 1 0,1-1 1,4-4-1,7-4-6674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0:00.0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68 1 24575,'0'24'0,"-5"162"0,2-155 0,-2 1 0,-1-1 0,-18 57 0,17-62 0,1 1 0,1 0 0,2 0 0,1 0 0,0 0 0,2 1 0,6 41 0,-6-67 0,0 0 0,0 0 0,0 0 0,1 1 0,-1-1 0,1 0 0,-1 0 0,1 0 0,0 0 0,0 0 0,0 0 0,0 0 0,0 0 0,0-1 0,0 1 0,1 0 0,-1 0 0,1-1 0,-1 1 0,1-1 0,0 0 0,0 1 0,1 0 0,0-1 0,0 0 0,0-1 0,0 1 0,0-1 0,0 0 0,0 0 0,0 0 0,0 0 0,0 0 0,0 0 0,0-1 0,0 0 0,0 1 0,4-3 0,11-5 0,-1 0 0,0-1 0,-1-1 0,17-13 0,-30 21 0,27-17 0,53-25 0,-61 33 0,0 0 0,0-1 0,-1-2 0,-1 0 0,27-23 0,121-102 0,-69 52-1365,-86 73-5461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0:03.5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6966 9605 24575,'41'1'0,"-1"-2"0,0-2 0,0-1 0,0-2 0,44-14 0,509-195-832,-463 161 812,203-117-1,-229 109 21,122-77 0,-78 26 0,-107 82 40,40-41 1,-45 39-87,57-42 1,-24 23-137,-3-4 0,99-105 0,-96 91 144,-34 27 320,-27 32-137,-1 1-1,2 1 1,12-12 0,4-4 168,43-51 0,-10 9-333,48-65 20,-32 35 0,-52 70 0,25-45 0,-35 50 0,1 2 0,1 0 0,1 0 0,30-29 0,-26 29 0,0-1 0,-1 0 0,25-40 0,6-8 0,180-246 0,-104 129 0,-37 49 0,-68 109-40,9-13-214,35-63 0,25-45 254,-69 117 0,-1-2 0,14-35 0,101-179 544,-126 235-540,221-409-4,-175 337 0,-38 63 0,-2-1 0,20-39 0,8-25 0,-25 54 0,-2 0 0,22-66 0,-22 53 0,30-66 0,-26 71 0,-3-1 0,12-45 0,-7-5 0,-3 14 0,29-84 0,-40 133 0,0-1 0,-2 0 0,-2 0 0,-1-1 0,-1 1 0,-5-56 0,1 0 0,5-18 0,-5-101 0,2 190 0,-2 0 0,0 1 0,0-1 0,-1 1 0,-1 0 0,-11-24 0,-4 3 0,-27-39 0,25 42 0,-47-98 0,52 102 0,-1 1 0,0 1 0,-40-41 0,-13-22 0,54 64 0,-1 2 0,-41-41 0,22 28 0,-41-53 0,-25-24 0,-145-132 0,236 234 0,-1 1 0,0 0 0,0 1 0,-17-9 0,17 11 0,0-1 0,1-1 0,0 0 0,-21-20 0,10 7 0,-1 0 0,-2 1 0,0 2 0,-31-18 0,1 0 0,6 9 0,41 24 0,0 0 0,0-1 0,1 0 0,0 0 0,0-1 0,0 0 0,1 0 0,-10-12 0,6 7 0,0 1 0,-1 0 0,0 0 0,0 1 0,-1 0 0,0 2 0,-22-11 0,13 7 0,2-1 0,-23-16 0,-52-36 0,66 46 0,2 0 0,-41-35 0,51 38 0,-1 2 0,0 0 0,-26-13 0,21 13 0,-39-30 0,-9-3 0,57 38 0,1 1 0,0-2 0,1 0 0,0 0 0,-16-16 0,19 15 0,-1 2 0,0-1 0,-1 2 0,1-1 0,-21-9 0,16 9 0,1-1 0,1 0 0,-14-11 0,4 1 0,-2 2 0,0 0 0,-35-17 0,29 17 0,-51-36 0,61 38 0,-1 2 0,-41-19 0,34 18 0,-103-49 0,92 43 0,-67-25 0,69 31 0,0-2 0,-49-28 0,35 16 0,-94-38 0,103 48 0,3 4 0,-57-14 0,54 17 0,-44-18 0,49 14 0,0 1 0,-1 2 0,-56-10 0,-60-8 0,139 26 0,0 0 0,0-1 0,-26-12 0,27 11 0,1 0 0,-1 1 0,0 0 0,-21-2 0,-49-8 0,54 8 0,0 2 0,-39-2 0,20 4 0,-63-13 0,28 3 0,67 9 0,0 0 0,0-1 0,-30-12 0,33 10 0,0 2 0,-1 0 0,1 0 0,-1 2 0,-22-3 0,-149-24 0,85 15 0,74 9 0,0 1 0,-30 0 0,-7-1 0,1-1 0,-68-19 0,22 5 0,53 10 0,14 2 0,-1 3 0,-61-3 0,72 7 0,-62-11 0,59 7 0,-48-2 0,33 7 0,27 2 0,-1-1 0,0-2 0,0 0 0,1-1 0,-1-2 0,1 0 0,-29-12 0,32 10 0,-1 1 0,0 1 0,0 1 0,0 1 0,0 0 0,0 2 0,-24 1 0,15 0 0,-1-1 0,-49-9 0,36 2 0,-1 3 0,0 2 0,-47 2 0,-49-2 0,37-12 0,66 9 0,-65-4 0,102 10 0,-54 0 0,0-2 0,-78-14 0,76 4 0,8 1 0,-1 2 0,-68-3 0,91 10 0,1-1 0,-27-7 0,27 4 0,-53-3 0,53 7 0,0-1 0,-27-8 0,27 6 0,0 0 0,-28-1 0,4 2 0,0-2 0,-57-15 0,61 11 0,0 1 0,-82-3 0,103 10 0,0 0 0,-34-9 0,33 5 0,-52-3 0,23 8 0,-105-17 0,114 12 0,0 2 0,-93 3 0,-28-1 0,152 0 0,0-1 0,1-1 0,-1-1 0,-27-12 0,29 11 0,0 1 0,-1 0 0,1 0 0,-1 2 0,-24-4 0,31 7 0,-170-18 0,139 13 0,-71 0 0,11 2 0,14-12 0,63 10 0,-1 0 0,-33-1 0,-639 4 0,336 5 0,267-3-1365,66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3:02.5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1 731 24575,'0'-34'0,"0"-10"0,1 1 0,9-60 0,-7 88 0,0 1 0,1-1 0,1 1 0,1 0 0,-1 0 0,2 1 0,0-1 0,1 1 0,0 1 0,17-20 0,7-4 0,50-75 0,-41 62 0,-35 43 0,1 0 0,-1-1 0,-1 0 0,1 0 0,-1 0 0,-1-1 0,1 1 0,3-11 0,-6 12 0,0 0 0,1 0 0,-1 0 0,1 1 0,0-1 0,1 1 0,-1 0 0,9-9 0,-11 13 0,0 0 0,0 0 0,0 0 0,0 1 0,0-1 0,0 1 0,1-1 0,-1 1 0,0-1 0,0 1 0,0-1 0,1 1 0,-1 0 0,0 0 0,0 0 0,1 0 0,-1 0 0,0 0 0,3 0 0,-2 1 0,0 0 0,0 0 0,1 0 0,-1 0 0,0 0 0,0 1 0,0-1 0,0 1 0,0-1 0,0 1 0,-1 0 0,1 0 0,-1 0 0,2 2 0,50 75 0,-38-54 0,1-1 0,31 36 0,-41-52 0,0 0 0,-1 0 0,0 1 0,-1-1 0,1 1 0,-1 0 0,3 12 0,-4-12 0,0 0 0,0-1 0,1 1 0,0-1 0,1 0 0,0 0 0,0 0 0,7 7 0,-4-6 12,-1 1 0,0 0 0,-1 0 0,0 1 0,0 0 0,-1 0 0,0 0 0,5 21 0,-7-21-146,0 0 0,1 0 0,0 0 1,1-1-1,0 0 0,0 0 0,1 0 0,1-1 0,0 1 0,13 13 0,-5-11-6692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3:05.6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94 0 23926,'-94'1176'0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5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6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70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6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1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9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4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3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C724E-4710-4478-8A13-4CA72A7C225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24D36-4F81-45E2-96CC-8C825DF70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3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image" Target="../media/image22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42" Type="http://schemas.openxmlformats.org/officeDocument/2006/relationships/customXml" Target="../ink/ink20.xml"/><Relationship Id="rId47" Type="http://schemas.openxmlformats.org/officeDocument/2006/relationships/image" Target="../media/image26.png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4.xml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image" Target="../media/image21.png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image" Target="../media/image27.png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customXml" Target="../ink/ink21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image" Target="../media/image24.png"/><Relationship Id="rId48" Type="http://schemas.openxmlformats.org/officeDocument/2006/relationships/customXml" Target="../ink/ink23.xml"/><Relationship Id="rId8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BFAF9-4270-5C51-2AF4-7D148A74A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935946"/>
            <a:ext cx="5829300" cy="1361205"/>
          </a:xfrm>
        </p:spPr>
        <p:txBody>
          <a:bodyPr/>
          <a:lstStyle/>
          <a:p>
            <a:r>
              <a:rPr lang="en-US" dirty="0"/>
              <a:t>CMPEN 351 Final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3EC3E-2415-F16E-AC74-23EF70EE7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779477"/>
            <a:ext cx="5143500" cy="365167"/>
          </a:xfrm>
        </p:spPr>
        <p:txBody>
          <a:bodyPr/>
          <a:lstStyle/>
          <a:p>
            <a:r>
              <a:rPr lang="en-US" dirty="0"/>
              <a:t>- Dipen R (dar6078@psu.edu)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D4D71-7BDD-50E4-98F7-503778193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156" y="4881393"/>
            <a:ext cx="241968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2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B1DB-8B31-FEB2-68A4-29BEF8BA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867452"/>
          </a:xfrm>
        </p:spPr>
        <p:txBody>
          <a:bodyPr/>
          <a:lstStyle/>
          <a:p>
            <a:r>
              <a:rPr lang="en-US" dirty="0"/>
              <a:t>Peripherals</a:t>
            </a:r>
          </a:p>
        </p:txBody>
      </p:sp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B6B45CD-63E8-9B7F-1DA5-1C04DE7EF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5" y="1516566"/>
            <a:ext cx="5915025" cy="2671078"/>
          </a:xfr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D87466-88C2-F54C-C473-26A4C3219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50" y="7373975"/>
            <a:ext cx="4379291" cy="39067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BDC280-E350-53AB-834B-C837D09ED9B3}"/>
              </a:ext>
            </a:extLst>
          </p:cNvPr>
          <p:cNvSpPr txBox="1"/>
          <p:nvPr/>
        </p:nvSpPr>
        <p:spPr>
          <a:xfrm>
            <a:off x="306860" y="4488148"/>
            <a:ext cx="624427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Bitmap Display: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Resolution: 256x256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 Width = Unit Height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Resolution (from memory perspective) = 128x128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Keyboard Simulator: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input handled via Keyboard interrupts</a:t>
            </a:r>
          </a:p>
          <a:p>
            <a:endParaRPr lang="en-US" dirty="0"/>
          </a:p>
          <a:p>
            <a:r>
              <a:rPr lang="en-US" dirty="0"/>
              <a:t>Audio: Optional</a:t>
            </a:r>
          </a:p>
        </p:txBody>
      </p:sp>
    </p:spTree>
    <p:extLst>
      <p:ext uri="{BB962C8B-B14F-4D97-AF65-F5344CB8AC3E}">
        <p14:creationId xmlns:p14="http://schemas.microsoft.com/office/powerpoint/2010/main" val="362789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6374-FE37-E7AA-9318-C90CCCBD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4E4C-1B92-CD51-27BC-251B9C10F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1844702"/>
          </a:xfrm>
        </p:spPr>
        <p:txBody>
          <a:bodyPr/>
          <a:lstStyle/>
          <a:p>
            <a:r>
              <a:rPr lang="en-US" dirty="0"/>
              <a:t>Player has 5 lives to win the game</a:t>
            </a:r>
          </a:p>
          <a:p>
            <a:r>
              <a:rPr lang="en-US" dirty="0"/>
              <a:t>They must destroy all 32 bricks before losing all lives, which is kept track of using the score field</a:t>
            </a:r>
          </a:p>
          <a:p>
            <a:r>
              <a:rPr lang="en-US" dirty="0"/>
              <a:t>Player loses a life if the ball falls below the paddle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FB2659-35A6-BCA6-6AD5-9C5E0BC8E199}"/>
              </a:ext>
            </a:extLst>
          </p:cNvPr>
          <p:cNvSpPr txBox="1">
            <a:spLocks/>
          </p:cNvSpPr>
          <p:nvPr/>
        </p:nvSpPr>
        <p:spPr>
          <a:xfrm>
            <a:off x="471487" y="3055434"/>
            <a:ext cx="5915025" cy="561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Instructions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C44898-186A-DBAC-BD69-93DC117BFF99}"/>
              </a:ext>
            </a:extLst>
          </p:cNvPr>
          <p:cNvSpPr txBox="1">
            <a:spLocks/>
          </p:cNvSpPr>
          <p:nvPr/>
        </p:nvSpPr>
        <p:spPr>
          <a:xfrm>
            <a:off x="471486" y="3617052"/>
            <a:ext cx="5915025" cy="184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Press the Space bar to start the game or resume after losing a life</a:t>
            </a:r>
          </a:p>
          <a:p>
            <a:r>
              <a:rPr lang="en-US" dirty="0"/>
              <a:t>Press A to move paddle left</a:t>
            </a:r>
          </a:p>
          <a:p>
            <a:r>
              <a:rPr lang="en-US" dirty="0"/>
              <a:t>Press D to move paddle right</a:t>
            </a:r>
          </a:p>
        </p:txBody>
      </p:sp>
    </p:spTree>
    <p:extLst>
      <p:ext uri="{BB962C8B-B14F-4D97-AF65-F5344CB8AC3E}">
        <p14:creationId xmlns:p14="http://schemas.microsoft.com/office/powerpoint/2010/main" val="340152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ADCE-A881-7F43-E7F5-7E4D18B4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Game Elements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D32326-3742-C6C8-C529-858B1B4B3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344" y="2475060"/>
            <a:ext cx="3681312" cy="36958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7DA2D25-7118-3F05-5EC5-501935DED73E}"/>
                  </a:ext>
                </a:extLst>
              </p14:cNvPr>
              <p14:cNvContentPartPr/>
              <p14:nvPr/>
            </p14:nvContentPartPr>
            <p14:xfrm>
              <a:off x="1795127" y="2285735"/>
              <a:ext cx="277200" cy="435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7DA2D25-7118-3F05-5EC5-501935DED7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9007" y="2279615"/>
                <a:ext cx="28944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C6B6526-EDE0-AC3B-31AD-9AF7634AB922}"/>
                  </a:ext>
                </a:extLst>
              </p14:cNvPr>
              <p14:cNvContentPartPr/>
              <p14:nvPr/>
            </p14:nvContentPartPr>
            <p14:xfrm>
              <a:off x="4794647" y="2397335"/>
              <a:ext cx="67680" cy="324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C6B6526-EDE0-AC3B-31AD-9AF7634AB9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88527" y="2391215"/>
                <a:ext cx="799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C994124-34F5-CB01-2CFB-743192B2517F}"/>
                  </a:ext>
                </a:extLst>
              </p14:cNvPr>
              <p14:cNvContentPartPr/>
              <p14:nvPr/>
            </p14:nvContentPartPr>
            <p14:xfrm>
              <a:off x="4906247" y="2408495"/>
              <a:ext cx="156600" cy="346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C994124-34F5-CB01-2CFB-743192B251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00127" y="2402375"/>
                <a:ext cx="1688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B202BAB-9DDB-789B-B98F-69145DD3800A}"/>
                  </a:ext>
                </a:extLst>
              </p14:cNvPr>
              <p14:cNvContentPartPr/>
              <p14:nvPr/>
            </p14:nvContentPartPr>
            <p14:xfrm>
              <a:off x="2910407" y="2297255"/>
              <a:ext cx="473400" cy="4406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B202BAB-9DDB-789B-B98F-69145DD380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04287" y="2291135"/>
                <a:ext cx="48564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C6B74054-9607-1455-8B54-329F333D3BB3}"/>
              </a:ext>
            </a:extLst>
          </p:cNvPr>
          <p:cNvGrpSpPr/>
          <p:nvPr/>
        </p:nvGrpSpPr>
        <p:grpSpPr>
          <a:xfrm>
            <a:off x="1035527" y="3889895"/>
            <a:ext cx="1214640" cy="312120"/>
            <a:chOff x="1035527" y="5662932"/>
            <a:chExt cx="121464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37D93D-A2F5-1811-5D37-6D4891F31466}"/>
                    </a:ext>
                  </a:extLst>
                </p14:cNvPr>
                <p14:cNvContentPartPr/>
                <p14:nvPr/>
              </p14:nvContentPartPr>
              <p14:xfrm>
                <a:off x="2007167" y="5662932"/>
                <a:ext cx="243000" cy="312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37D93D-A2F5-1811-5D37-6D4891F314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01047" y="5656812"/>
                  <a:ext cx="2552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226AC1-EE89-F6A7-9121-21D3BBA13250}"/>
                    </a:ext>
                  </a:extLst>
                </p14:cNvPr>
                <p14:cNvContentPartPr/>
                <p14:nvPr/>
              </p14:nvContentPartPr>
              <p14:xfrm>
                <a:off x="1035527" y="5809092"/>
                <a:ext cx="1194840" cy="76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226AC1-EE89-F6A7-9121-21D3BBA132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9407" y="5802972"/>
                  <a:ext cx="12070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DA9F4D-F9A5-D454-DA24-5681A01D4EAF}"/>
              </a:ext>
            </a:extLst>
          </p:cNvPr>
          <p:cNvGrpSpPr/>
          <p:nvPr/>
        </p:nvGrpSpPr>
        <p:grpSpPr>
          <a:xfrm>
            <a:off x="4558487" y="4025615"/>
            <a:ext cx="1528920" cy="273240"/>
            <a:chOff x="4558487" y="5798652"/>
            <a:chExt cx="152892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3AF850-45F6-507E-27A6-27E2B1F99D93}"/>
                    </a:ext>
                  </a:extLst>
                </p14:cNvPr>
                <p14:cNvContentPartPr/>
                <p14:nvPr/>
              </p14:nvContentPartPr>
              <p14:xfrm>
                <a:off x="4558487" y="5798652"/>
                <a:ext cx="259200" cy="273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3AF850-45F6-507E-27A6-27E2B1F99D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52367" y="5792532"/>
                  <a:ext cx="2714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5E8530-2595-0F2A-7F7E-3AF9B392ADF5}"/>
                    </a:ext>
                  </a:extLst>
                </p14:cNvPr>
                <p14:cNvContentPartPr/>
                <p14:nvPr/>
              </p14:nvContentPartPr>
              <p14:xfrm>
                <a:off x="4627247" y="5919252"/>
                <a:ext cx="1460160" cy="3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5E8530-2595-0F2A-7F7E-3AF9B392AD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21127" y="5913132"/>
                  <a:ext cx="147240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9FA012D-7E98-F69F-D3E1-F504A97E2DED}"/>
                  </a:ext>
                </a:extLst>
              </p14:cNvPr>
              <p14:cNvContentPartPr/>
              <p14:nvPr/>
            </p14:nvContentPartPr>
            <p14:xfrm>
              <a:off x="3021287" y="1529375"/>
              <a:ext cx="112680" cy="11692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9FA012D-7E98-F69F-D3E1-F504A97E2DE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15167" y="1523255"/>
                <a:ext cx="124920" cy="11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36E82A-DA6B-DF89-BA2A-FBC41179594C}"/>
                  </a:ext>
                </a:extLst>
              </p14:cNvPr>
              <p14:cNvContentPartPr/>
              <p14:nvPr/>
            </p14:nvContentPartPr>
            <p14:xfrm>
              <a:off x="1357367" y="1799375"/>
              <a:ext cx="572040" cy="943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36E82A-DA6B-DF89-BA2A-FBC41179594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51247" y="1793255"/>
                <a:ext cx="584280" cy="9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683740D-B68E-FBD6-AE14-C6409B56FC7A}"/>
                  </a:ext>
                </a:extLst>
              </p14:cNvPr>
              <p14:cNvContentPartPr/>
              <p14:nvPr/>
            </p14:nvContentPartPr>
            <p14:xfrm>
              <a:off x="4861247" y="1580135"/>
              <a:ext cx="565200" cy="1174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683740D-B68E-FBD6-AE14-C6409B56FC7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55127" y="1574015"/>
                <a:ext cx="577440" cy="11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D88A5A3-C0D2-DC1D-475A-DB96D936930E}"/>
              </a:ext>
            </a:extLst>
          </p:cNvPr>
          <p:cNvGrpSpPr/>
          <p:nvPr/>
        </p:nvGrpSpPr>
        <p:grpSpPr>
          <a:xfrm>
            <a:off x="989807" y="4758935"/>
            <a:ext cx="4568760" cy="478800"/>
            <a:chOff x="989807" y="6531972"/>
            <a:chExt cx="456876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B44A4B-8780-A860-4BE7-23D0EB34C9C0}"/>
                    </a:ext>
                  </a:extLst>
                </p14:cNvPr>
                <p14:cNvContentPartPr/>
                <p14:nvPr/>
              </p14:nvContentPartPr>
              <p14:xfrm>
                <a:off x="3434567" y="6589932"/>
                <a:ext cx="277560" cy="158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DB44A4B-8780-A860-4BE7-23D0EB34C9C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28447" y="6583812"/>
                  <a:ext cx="289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FB556D-8FF6-6EDD-610D-C2A76D9C44D2}"/>
                    </a:ext>
                  </a:extLst>
                </p14:cNvPr>
                <p14:cNvContentPartPr/>
                <p14:nvPr/>
              </p14:nvContentPartPr>
              <p14:xfrm>
                <a:off x="3512687" y="6531972"/>
                <a:ext cx="2045880" cy="20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CFB556D-8FF6-6EDD-610D-C2A76D9C44D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06567" y="6525852"/>
                  <a:ext cx="2058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DC6FD2-A386-C1FA-7D05-F5D6D10D8E85}"/>
                    </a:ext>
                  </a:extLst>
                </p14:cNvPr>
                <p14:cNvContentPartPr/>
                <p14:nvPr/>
              </p14:nvContentPartPr>
              <p14:xfrm>
                <a:off x="2977367" y="6757332"/>
                <a:ext cx="290880" cy="18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DC6FD2-A386-C1FA-7D05-F5D6D10D8E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71247" y="6751212"/>
                  <a:ext cx="303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F6BC0B-D24A-3A9B-0A75-3C69E6287D44}"/>
                    </a:ext>
                  </a:extLst>
                </p14:cNvPr>
                <p14:cNvContentPartPr/>
                <p14:nvPr/>
              </p14:nvContentPartPr>
              <p14:xfrm>
                <a:off x="989807" y="6868212"/>
                <a:ext cx="2288880" cy="142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F6BC0B-D24A-3A9B-0A75-3C69E6287D4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3687" y="6862092"/>
                  <a:ext cx="23011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DCC05AA-1679-F61D-00B6-F77E7CEC9075}"/>
              </a:ext>
            </a:extLst>
          </p:cNvPr>
          <p:cNvGrpSpPr/>
          <p:nvPr/>
        </p:nvGrpSpPr>
        <p:grpSpPr>
          <a:xfrm>
            <a:off x="1999607" y="5885015"/>
            <a:ext cx="531720" cy="730440"/>
            <a:chOff x="1999607" y="7658052"/>
            <a:chExt cx="531720" cy="73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C7AA80-AB2F-FF86-4436-0F9796D18E68}"/>
                    </a:ext>
                  </a:extLst>
                </p14:cNvPr>
                <p14:cNvContentPartPr/>
                <p14:nvPr/>
              </p14:nvContentPartPr>
              <p14:xfrm>
                <a:off x="2085287" y="7658052"/>
                <a:ext cx="437400" cy="228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C7AA80-AB2F-FF86-4436-0F9796D18E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79167" y="7651932"/>
                  <a:ext cx="449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58327B-8B9A-F198-0FE4-EC8950915083}"/>
                    </a:ext>
                  </a:extLst>
                </p14:cNvPr>
                <p14:cNvContentPartPr/>
                <p14:nvPr/>
              </p14:nvContentPartPr>
              <p14:xfrm>
                <a:off x="1999607" y="7672092"/>
                <a:ext cx="531720" cy="716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58327B-8B9A-F198-0FE4-EC89509150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93487" y="7665972"/>
                  <a:ext cx="543960" cy="728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5E58EA28-1CFF-3AF9-A54E-BA4357AB67A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88344" y="7435193"/>
            <a:ext cx="3695805" cy="3695805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77FD58C0-5595-07B2-F2AB-1DCF843809E9}"/>
              </a:ext>
            </a:extLst>
          </p:cNvPr>
          <p:cNvGrpSpPr/>
          <p:nvPr/>
        </p:nvGrpSpPr>
        <p:grpSpPr>
          <a:xfrm>
            <a:off x="1215167" y="6871452"/>
            <a:ext cx="5378040" cy="3610800"/>
            <a:chOff x="1215167" y="6871452"/>
            <a:chExt cx="5378040" cy="361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797AB02-4268-C0E5-06FF-A746FCE498A7}"/>
                    </a:ext>
                  </a:extLst>
                </p14:cNvPr>
                <p14:cNvContentPartPr/>
                <p14:nvPr/>
              </p14:nvContentPartPr>
              <p14:xfrm>
                <a:off x="1215167" y="9702852"/>
                <a:ext cx="625320" cy="728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797AB02-4268-C0E5-06FF-A746FCE498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09047" y="9696732"/>
                  <a:ext cx="63756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6D8D9FA-4ABE-0A4C-F5A8-F3F50E8DA6B1}"/>
                    </a:ext>
                  </a:extLst>
                </p14:cNvPr>
                <p14:cNvContentPartPr/>
                <p14:nvPr/>
              </p14:nvContentPartPr>
              <p14:xfrm>
                <a:off x="1481927" y="6871452"/>
                <a:ext cx="571320" cy="361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6D8D9FA-4ABE-0A4C-F5A8-F3F50E8DA6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75807" y="6865332"/>
                  <a:ext cx="583560" cy="36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729FE2-AA04-E582-39FF-657C6901A2C1}"/>
                    </a:ext>
                  </a:extLst>
                </p14:cNvPr>
                <p14:cNvContentPartPr/>
                <p14:nvPr/>
              </p14:nvContentPartPr>
              <p14:xfrm>
                <a:off x="4859807" y="10225572"/>
                <a:ext cx="263160" cy="252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729FE2-AA04-E582-39FF-657C6901A2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53687" y="10219452"/>
                  <a:ext cx="2754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86B058-0A70-203E-F60F-CE990969C655}"/>
                    </a:ext>
                  </a:extLst>
                </p14:cNvPr>
                <p14:cNvContentPartPr/>
                <p14:nvPr/>
              </p14:nvContentPartPr>
              <p14:xfrm>
                <a:off x="2387327" y="6979452"/>
                <a:ext cx="4205880" cy="345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86B058-0A70-203E-F60F-CE990969C6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1207" y="6973332"/>
                  <a:ext cx="4218120" cy="3470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C1F8032-86E3-1C55-A5F0-484147E7D577}"/>
              </a:ext>
            </a:extLst>
          </p:cNvPr>
          <p:cNvSpPr txBox="1"/>
          <p:nvPr/>
        </p:nvSpPr>
        <p:spPr>
          <a:xfrm>
            <a:off x="2587022" y="1146866"/>
            <a:ext cx="124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Border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BA5A22-5846-D0F4-EDCD-E65CC1BEB659}"/>
              </a:ext>
            </a:extLst>
          </p:cNvPr>
          <p:cNvSpPr txBox="1"/>
          <p:nvPr/>
        </p:nvSpPr>
        <p:spPr>
          <a:xfrm>
            <a:off x="4871564" y="1142057"/>
            <a:ext cx="125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 card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0EFB36-E5B3-6A98-3DA4-7629491862C1}"/>
              </a:ext>
            </a:extLst>
          </p:cNvPr>
          <p:cNvSpPr txBox="1"/>
          <p:nvPr/>
        </p:nvSpPr>
        <p:spPr>
          <a:xfrm>
            <a:off x="514936" y="1391181"/>
            <a:ext cx="155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Lives Counter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A597DA-2DB2-DFF8-1FAF-BB2383606CA3}"/>
              </a:ext>
            </a:extLst>
          </p:cNvPr>
          <p:cNvSpPr txBox="1"/>
          <p:nvPr/>
        </p:nvSpPr>
        <p:spPr>
          <a:xfrm>
            <a:off x="119535" y="3705229"/>
            <a:ext cx="128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Border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E7907A-25AF-6891-08E0-73ED76021FA3}"/>
              </a:ext>
            </a:extLst>
          </p:cNvPr>
          <p:cNvSpPr txBox="1"/>
          <p:nvPr/>
        </p:nvSpPr>
        <p:spPr>
          <a:xfrm>
            <a:off x="5357327" y="3696577"/>
            <a:ext cx="140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Border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C65DAE-18A8-3E4A-E542-C1456098782F}"/>
              </a:ext>
            </a:extLst>
          </p:cNvPr>
          <p:cNvSpPr txBox="1"/>
          <p:nvPr/>
        </p:nvSpPr>
        <p:spPr>
          <a:xfrm>
            <a:off x="5497889" y="4639675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Ball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9E9638-7D93-9887-F790-FA269170D4ED}"/>
              </a:ext>
            </a:extLst>
          </p:cNvPr>
          <p:cNvSpPr txBox="1"/>
          <p:nvPr/>
        </p:nvSpPr>
        <p:spPr>
          <a:xfrm>
            <a:off x="194908" y="4974935"/>
            <a:ext cx="87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Paddle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BAF8E7-D951-31D0-0B10-0089D625D61E}"/>
              </a:ext>
            </a:extLst>
          </p:cNvPr>
          <p:cNvSpPr txBox="1"/>
          <p:nvPr/>
        </p:nvSpPr>
        <p:spPr>
          <a:xfrm>
            <a:off x="1840487" y="6553230"/>
            <a:ext cx="2324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messages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C9A2BDC-7741-69DD-0A47-9D3B945F2B15}"/>
                  </a:ext>
                </a:extLst>
              </p14:cNvPr>
              <p14:cNvContentPartPr/>
              <p14:nvPr/>
            </p14:nvContentPartPr>
            <p14:xfrm>
              <a:off x="2910047" y="3338772"/>
              <a:ext cx="270720" cy="263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C9A2BDC-7741-69DD-0A47-9D3B945F2B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03927" y="3332652"/>
                <a:ext cx="2829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6792AF4-C8E6-5968-D833-1CAB748AF144}"/>
                  </a:ext>
                </a:extLst>
              </p14:cNvPr>
              <p14:cNvContentPartPr/>
              <p14:nvPr/>
            </p14:nvContentPartPr>
            <p14:xfrm>
              <a:off x="2999327" y="3367572"/>
              <a:ext cx="34200" cy="423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6792AF4-C8E6-5968-D833-1CAB748AF14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93207" y="3361452"/>
                <a:ext cx="46440" cy="435960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7B4B5E1-2564-BAAE-5017-7B4245795F1D}"/>
              </a:ext>
            </a:extLst>
          </p:cNvPr>
          <p:cNvSpPr txBox="1"/>
          <p:nvPr/>
        </p:nvSpPr>
        <p:spPr>
          <a:xfrm>
            <a:off x="2630719" y="3735499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Brick Grid</a:t>
            </a:r>
          </a:p>
        </p:txBody>
      </p:sp>
    </p:spTree>
    <p:extLst>
      <p:ext uri="{BB962C8B-B14F-4D97-AF65-F5344CB8AC3E}">
        <p14:creationId xmlns:p14="http://schemas.microsoft.com/office/powerpoint/2010/main" val="149588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BEB1A-700B-12FB-831D-6F9652B4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B7D4-8BCC-59A5-603C-4CB787CA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Game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8A411-B481-74EA-577D-72C0B7A2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7710244"/>
          </a:xfrm>
        </p:spPr>
        <p:txBody>
          <a:bodyPr/>
          <a:lstStyle/>
          <a:p>
            <a:r>
              <a:rPr lang="en-US" dirty="0"/>
              <a:t>Game Active Flag: </a:t>
            </a:r>
          </a:p>
          <a:p>
            <a:pPr lvl="1"/>
            <a:r>
              <a:rPr lang="en-US" dirty="0"/>
              <a:t>Set after the preparations (drawing game elements) are done</a:t>
            </a:r>
          </a:p>
          <a:p>
            <a:pPr lvl="1"/>
            <a:r>
              <a:rPr lang="en-US" dirty="0"/>
              <a:t>That is, the flag is set before entering the game loop</a:t>
            </a:r>
          </a:p>
          <a:p>
            <a:pPr lvl="1"/>
            <a:r>
              <a:rPr lang="en-US" dirty="0"/>
              <a:t>Reset after the player either wins or loses</a:t>
            </a:r>
          </a:p>
          <a:p>
            <a:pPr lvl="1"/>
            <a:r>
              <a:rPr lang="en-US" dirty="0"/>
              <a:t>The game loop is exited when this flag is reset</a:t>
            </a:r>
          </a:p>
          <a:p>
            <a:pPr marL="342900" lvl="1" indent="0">
              <a:buNone/>
            </a:pPr>
            <a:endParaRPr lang="en-IN" sz="2100" dirty="0"/>
          </a:p>
          <a:p>
            <a:r>
              <a:rPr lang="en-US" dirty="0"/>
              <a:t>Paddle Free Flag:</a:t>
            </a:r>
          </a:p>
          <a:p>
            <a:pPr lvl="1"/>
            <a:r>
              <a:rPr lang="en-US" dirty="0"/>
              <a:t>Can be set only after the game's active flag is set</a:t>
            </a:r>
            <a:endParaRPr lang="en-IN" dirty="0"/>
          </a:p>
          <a:p>
            <a:pPr lvl="1"/>
            <a:r>
              <a:rPr lang="en-US" dirty="0"/>
              <a:t>This flag is set when the user presses the space bar</a:t>
            </a:r>
            <a:endParaRPr lang="en-IN" dirty="0"/>
          </a:p>
          <a:p>
            <a:pPr lvl="1"/>
            <a:r>
              <a:rPr lang="en-US" dirty="0"/>
              <a:t>The game loop can only progress if the paddle free flag is set</a:t>
            </a:r>
            <a:endParaRPr lang="en-IN" dirty="0"/>
          </a:p>
          <a:p>
            <a:pPr lvl="1"/>
            <a:r>
              <a:rPr lang="en-US" dirty="0"/>
              <a:t>Paddle movement keys are only processed if the paddle free flag is set</a:t>
            </a:r>
            <a:endParaRPr lang="en-IN" dirty="0"/>
          </a:p>
          <a:p>
            <a:pPr lvl="1"/>
            <a:r>
              <a:rPr lang="en-US" dirty="0"/>
              <a:t>This flag is reset upon losing a life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54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C655-8FF7-7434-55C0-7B834044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8FAD-6C51-D997-9BBE-9A17CC5D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896F-0C14-EBBB-5CE2-218766D3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1844702"/>
          </a:xfrm>
        </p:spPr>
        <p:txBody>
          <a:bodyPr/>
          <a:lstStyle/>
          <a:p>
            <a:r>
              <a:rPr lang="en-US" dirty="0"/>
              <a:t>Color is kept track of using a color table.</a:t>
            </a:r>
          </a:p>
          <a:p>
            <a:r>
              <a:rPr lang="en-US" dirty="0"/>
              <a:t>The table has hex entries for different color combinations</a:t>
            </a:r>
          </a:p>
          <a:p>
            <a:r>
              <a:rPr lang="en-US" dirty="0"/>
              <a:t>A color is retrieved via indexing into the table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5EA4A1-381D-9ACE-1AE3-51BE12FD775A}"/>
              </a:ext>
            </a:extLst>
          </p:cNvPr>
          <p:cNvSpPr txBox="1">
            <a:spLocks/>
          </p:cNvSpPr>
          <p:nvPr/>
        </p:nvSpPr>
        <p:spPr>
          <a:xfrm>
            <a:off x="471487" y="3055434"/>
            <a:ext cx="5915025" cy="561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Digits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ABCD1C-1DD1-6D42-55AE-D58ADD2A6DC0}"/>
              </a:ext>
            </a:extLst>
          </p:cNvPr>
          <p:cNvSpPr txBox="1">
            <a:spLocks/>
          </p:cNvSpPr>
          <p:nvPr/>
        </p:nvSpPr>
        <p:spPr>
          <a:xfrm>
            <a:off x="471486" y="3617052"/>
            <a:ext cx="5915025" cy="184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Characters on the screen (A, D, -, &gt;, 0, etc.) are 8x12 black and white values</a:t>
            </a:r>
          </a:p>
          <a:p>
            <a:r>
              <a:rPr lang="en-US" dirty="0"/>
              <a:t>These characters are stored in a table</a:t>
            </a:r>
          </a:p>
          <a:p>
            <a:r>
              <a:rPr lang="en-US" dirty="0"/>
              <a:t>Most were provided in lecture, and the remaining, such as ‘&gt;’ were created in </a:t>
            </a:r>
            <a:r>
              <a:rPr lang="en-US" dirty="0" err="1"/>
              <a:t>PixilArt</a:t>
            </a:r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18B466-C66C-431D-EB97-926CCD8B5EBF}"/>
              </a:ext>
            </a:extLst>
          </p:cNvPr>
          <p:cNvSpPr txBox="1">
            <a:spLocks/>
          </p:cNvSpPr>
          <p:nvPr/>
        </p:nvSpPr>
        <p:spPr>
          <a:xfrm>
            <a:off x="471485" y="5461754"/>
            <a:ext cx="5915025" cy="561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Erasing Elements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9ED334-3F5F-7460-7625-D2DDF75A26D9}"/>
              </a:ext>
            </a:extLst>
          </p:cNvPr>
          <p:cNvSpPr txBox="1">
            <a:spLocks/>
          </p:cNvSpPr>
          <p:nvPr/>
        </p:nvSpPr>
        <p:spPr>
          <a:xfrm>
            <a:off x="471484" y="6023372"/>
            <a:ext cx="5915025" cy="6168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Erasing elements on the screen is equivalent to drawing the element, but with all 0s for its hex values</a:t>
            </a:r>
          </a:p>
          <a:p>
            <a:r>
              <a:rPr lang="en-US" dirty="0"/>
              <a:t>For example, a brick is destroyed by drawing a black rectangle over it</a:t>
            </a:r>
          </a:p>
          <a:p>
            <a:r>
              <a:rPr lang="en-US" dirty="0"/>
              <a:t>Text is cleared by writing empty text over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1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A939-D49B-197D-B1E5-183CEE4A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1E05-8B36-E1CE-53B3-EB0A8378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Bricks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C80B9-6390-89B2-D364-BC9E1792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77357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Dimensions: 10x5</a:t>
            </a:r>
          </a:p>
          <a:p>
            <a:r>
              <a:rPr lang="en-US" dirty="0"/>
              <a:t>Arranged in an 8x4 grid for a total of 32 bricks</a:t>
            </a:r>
          </a:p>
          <a:p>
            <a:r>
              <a:rPr lang="en-US" dirty="0"/>
              <a:t>Laid right next to each other</a:t>
            </a:r>
          </a:p>
          <a:p>
            <a:r>
              <a:rPr lang="en-US" dirty="0"/>
              <a:t>Destroyed bricks are tracked in a bricks left array, which is indexed into using a row and column index</a:t>
            </a:r>
          </a:p>
          <a:p>
            <a:r>
              <a:rPr lang="en-US" dirty="0"/>
              <a:t>This layout logic makes accessing any brick simple:</a:t>
            </a:r>
          </a:p>
          <a:p>
            <a:pPr marL="0" indent="0" algn="ctr">
              <a:buNone/>
            </a:pPr>
            <a:r>
              <a:rPr lang="en-US" dirty="0"/>
              <a:t>X coordinate of a brick:</a:t>
            </a:r>
          </a:p>
          <a:p>
            <a:pPr marL="0" indent="0" algn="ctr">
              <a:buNone/>
            </a:pPr>
            <a:r>
              <a:rPr lang="en-US" dirty="0"/>
              <a:t>word at (</a:t>
            </a:r>
            <a:r>
              <a:rPr lang="en-US" dirty="0" err="1"/>
              <a:t>BricksLayoutTable</a:t>
            </a:r>
            <a:r>
              <a:rPr lang="en-US" dirty="0"/>
              <a:t> + 0) + (Column index * Width of brick)</a:t>
            </a:r>
          </a:p>
          <a:p>
            <a:pPr marL="0" indent="0" algn="ctr">
              <a:buNone/>
            </a:pPr>
            <a:r>
              <a:rPr lang="en-US" dirty="0"/>
              <a:t>Y coordinate of a brick = word at (</a:t>
            </a:r>
            <a:r>
              <a:rPr lang="en-US" dirty="0" err="1"/>
              <a:t>BricksLayoutTable</a:t>
            </a:r>
            <a:r>
              <a:rPr lang="en-US" dirty="0"/>
              <a:t> + 4 bytes) + (Row index * Height of brick)</a:t>
            </a:r>
          </a:p>
          <a:p>
            <a:r>
              <a:rPr lang="en-US" dirty="0" err="1"/>
              <a:t>BricksLayoutTable</a:t>
            </a:r>
            <a:r>
              <a:rPr lang="en-US" dirty="0"/>
              <a:t> is the table in which information about the top-left brick is saved. All other bricks can be computed using the above logic. </a:t>
            </a:r>
            <a:r>
              <a:rPr lang="en-US" dirty="0" err="1"/>
              <a:t>BricksLayoutTable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/>
              <a:t>.word 24, 10, 6</a:t>
            </a:r>
          </a:p>
          <a:p>
            <a:pPr lvl="1"/>
            <a:r>
              <a:rPr lang="en-US" dirty="0"/>
              <a:t>First column = Starting X coordinate</a:t>
            </a:r>
          </a:p>
          <a:p>
            <a:pPr lvl="1"/>
            <a:r>
              <a:rPr lang="en-US" dirty="0"/>
              <a:t>Second column = </a:t>
            </a:r>
            <a:r>
              <a:rPr lang="en-US" dirty="0" err="1"/>
              <a:t>Startng</a:t>
            </a:r>
            <a:r>
              <a:rPr lang="en-US" dirty="0"/>
              <a:t> Y coordinate</a:t>
            </a:r>
          </a:p>
          <a:p>
            <a:pPr lvl="1"/>
            <a:r>
              <a:rPr lang="en-US" dirty="0"/>
              <a:t>Third column = Color index</a:t>
            </a:r>
          </a:p>
          <a:p>
            <a:r>
              <a:rPr lang="en-US" dirty="0"/>
              <a:t>Color for each next row = color index of previous row -1</a:t>
            </a:r>
          </a:p>
        </p:txBody>
      </p:sp>
    </p:spTree>
    <p:extLst>
      <p:ext uri="{BB962C8B-B14F-4D97-AF65-F5344CB8AC3E}">
        <p14:creationId xmlns:p14="http://schemas.microsoft.com/office/powerpoint/2010/main" val="408081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7E11-8F28-F021-1D6F-EE8FEC01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45F1-4F9E-7AC4-64C7-ABBE93CD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Borders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F960BC-4C33-66E8-3C11-381B3DF6E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3606595"/>
          </a:xfrm>
        </p:spPr>
        <p:txBody>
          <a:bodyPr/>
          <a:lstStyle/>
          <a:p>
            <a:r>
              <a:rPr lang="en-US" dirty="0"/>
              <a:t>There are 3 borders:</a:t>
            </a:r>
          </a:p>
          <a:p>
            <a:pPr lvl="1"/>
            <a:r>
              <a:rPr lang="en-US" dirty="0"/>
              <a:t>Two vertical borders (left and right)</a:t>
            </a:r>
          </a:p>
          <a:p>
            <a:pPr lvl="1"/>
            <a:r>
              <a:rPr lang="en-US" dirty="0"/>
              <a:t>One horizontal border (top)</a:t>
            </a:r>
          </a:p>
          <a:p>
            <a:r>
              <a:rPr lang="en-US" dirty="0"/>
              <a:t>They are simple lines</a:t>
            </a:r>
          </a:p>
          <a:p>
            <a:r>
              <a:rPr lang="en-US" dirty="0"/>
              <a:t>Border information is stored in a table:</a:t>
            </a:r>
          </a:p>
          <a:p>
            <a:pPr lvl="1"/>
            <a:r>
              <a:rPr lang="en-US" dirty="0"/>
              <a:t>First two row entries for the vertical borders</a:t>
            </a:r>
          </a:p>
          <a:p>
            <a:pPr lvl="1"/>
            <a:r>
              <a:rPr lang="en-US" dirty="0"/>
              <a:t>Last row entry for the horizontal border</a:t>
            </a:r>
          </a:p>
          <a:p>
            <a:pPr lvl="1"/>
            <a:r>
              <a:rPr lang="en-US" dirty="0"/>
              <a:t>Three columns for data:</a:t>
            </a:r>
          </a:p>
          <a:p>
            <a:pPr lvl="2"/>
            <a:r>
              <a:rPr lang="en-US" dirty="0"/>
              <a:t>(Starting) X coordinate</a:t>
            </a:r>
          </a:p>
          <a:p>
            <a:pPr lvl="2"/>
            <a:r>
              <a:rPr lang="en-US" dirty="0"/>
              <a:t>(Starting) Y coordinate</a:t>
            </a:r>
          </a:p>
          <a:p>
            <a:pPr lvl="2"/>
            <a:r>
              <a:rPr lang="en-US" dirty="0"/>
              <a:t>Border length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DE2256-44FB-AE5F-3064-B5161B103E8E}"/>
              </a:ext>
            </a:extLst>
          </p:cNvPr>
          <p:cNvSpPr txBox="1">
            <a:spLocks/>
          </p:cNvSpPr>
          <p:nvPr/>
        </p:nvSpPr>
        <p:spPr>
          <a:xfrm>
            <a:off x="471486" y="4817327"/>
            <a:ext cx="5915025" cy="561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Ball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F1B61DE-D1BE-D17A-C376-F213BA187B1C}"/>
              </a:ext>
            </a:extLst>
          </p:cNvPr>
          <p:cNvSpPr txBox="1">
            <a:spLocks/>
          </p:cNvSpPr>
          <p:nvPr/>
        </p:nvSpPr>
        <p:spPr>
          <a:xfrm>
            <a:off x="471485" y="5378944"/>
            <a:ext cx="5915025" cy="68130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ball is a square. This design choice aids in easier drawing and calculations</a:t>
            </a:r>
          </a:p>
          <a:p>
            <a:r>
              <a:rPr lang="en-US" dirty="0"/>
              <a:t>Ball data is stored in a single row entry table: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.word 60, 85, 60, 85, 3, 2, 1, 1, -1</a:t>
            </a:r>
          </a:p>
          <a:p>
            <a:pPr lvl="1"/>
            <a:r>
              <a:rPr lang="en-US" dirty="0"/>
              <a:t>First entry =  Current Top-Left X coordinate</a:t>
            </a:r>
          </a:p>
          <a:p>
            <a:pPr lvl="1"/>
            <a:r>
              <a:rPr lang="en-US" dirty="0"/>
              <a:t>Second entry = Current Top-Left Y coordinate</a:t>
            </a:r>
          </a:p>
          <a:p>
            <a:pPr lvl="1"/>
            <a:r>
              <a:rPr lang="en-US" dirty="0"/>
              <a:t>Third entry =  Old Top-Left X coordinate</a:t>
            </a:r>
          </a:p>
          <a:p>
            <a:pPr lvl="1"/>
            <a:r>
              <a:rPr lang="en-US" dirty="0"/>
              <a:t>Fourth entry = Old Top-Left Y coordinate</a:t>
            </a:r>
          </a:p>
          <a:p>
            <a:pPr lvl="1"/>
            <a:r>
              <a:rPr lang="en-US" dirty="0"/>
              <a:t>Fifth entry =  Ball size</a:t>
            </a:r>
          </a:p>
          <a:p>
            <a:pPr lvl="1"/>
            <a:r>
              <a:rPr lang="en-US" dirty="0"/>
              <a:t>Sixth entry =  X-axis speed</a:t>
            </a:r>
          </a:p>
          <a:p>
            <a:pPr lvl="1"/>
            <a:r>
              <a:rPr lang="en-US" dirty="0"/>
              <a:t>Seventh entry = X-axis direction </a:t>
            </a:r>
          </a:p>
          <a:p>
            <a:pPr lvl="1"/>
            <a:r>
              <a:rPr lang="en-US" dirty="0"/>
              <a:t>Eight entry = Y-axis speed </a:t>
            </a:r>
          </a:p>
          <a:p>
            <a:pPr lvl="1"/>
            <a:r>
              <a:rPr lang="en-US" dirty="0"/>
              <a:t>Nineth entry = Y-axis direction</a:t>
            </a:r>
          </a:p>
          <a:p>
            <a:r>
              <a:rPr lang="en-US" dirty="0"/>
              <a:t>Tracking the previous position helps in erasing the ball before redrawing it post-collision</a:t>
            </a:r>
          </a:p>
          <a:p>
            <a:r>
              <a:rPr lang="en-US" dirty="0"/>
              <a:t>The ball’s original position is stored separately in memory to restore it after losing a life</a:t>
            </a:r>
          </a:p>
          <a:p>
            <a:r>
              <a:rPr lang="en-US" dirty="0"/>
              <a:t>The ball’s Y-axis speed remains constant, but its X-axis velocity and Y-axis direction may change </a:t>
            </a:r>
          </a:p>
          <a:p>
            <a:r>
              <a:rPr lang="en-US" dirty="0"/>
              <a:t>It’s default velocity values are stored in memory for restoration after losing a life</a:t>
            </a:r>
          </a:p>
        </p:txBody>
      </p:sp>
    </p:spTree>
    <p:extLst>
      <p:ext uri="{BB962C8B-B14F-4D97-AF65-F5344CB8AC3E}">
        <p14:creationId xmlns:p14="http://schemas.microsoft.com/office/powerpoint/2010/main" val="214662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F66A-3959-C9BE-F7B5-BCD7DCAD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D86-A15E-753B-3D2E-F273B0D9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561618"/>
          </a:xfrm>
        </p:spPr>
        <p:txBody>
          <a:bodyPr/>
          <a:lstStyle/>
          <a:p>
            <a:r>
              <a:rPr lang="en-US" dirty="0"/>
              <a:t>Paddle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142B3-1788-5F5E-7934-D2C62927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210732"/>
            <a:ext cx="5915025" cy="5502302"/>
          </a:xfrm>
        </p:spPr>
        <p:txBody>
          <a:bodyPr>
            <a:normAutofit/>
          </a:bodyPr>
          <a:lstStyle/>
          <a:p>
            <a:r>
              <a:rPr lang="en-US" dirty="0"/>
              <a:t>The paddle is also a rectangle like a brick</a:t>
            </a:r>
          </a:p>
          <a:p>
            <a:r>
              <a:rPr lang="en-US" dirty="0"/>
              <a:t>Paddle data is stored in a single row entry table:</a:t>
            </a:r>
          </a:p>
          <a:p>
            <a:pPr marL="0" indent="0" algn="ctr">
              <a:buNone/>
            </a:pPr>
            <a:r>
              <a:rPr lang="en-US" dirty="0"/>
              <a:t>.word 56, 88, 40, 40, 13, 2, 10, 1</a:t>
            </a:r>
          </a:p>
          <a:p>
            <a:pPr lvl="1"/>
            <a:r>
              <a:rPr lang="en-US" dirty="0"/>
              <a:t>First entry =  Current Top-Left X coordinate</a:t>
            </a:r>
          </a:p>
          <a:p>
            <a:pPr lvl="1"/>
            <a:r>
              <a:rPr lang="en-US" dirty="0"/>
              <a:t>Second entry = Current Top-Left Y coordinate</a:t>
            </a:r>
          </a:p>
          <a:p>
            <a:pPr lvl="1"/>
            <a:r>
              <a:rPr lang="en-US" dirty="0"/>
              <a:t>Third entry =  Old Top-Left X coordinate</a:t>
            </a:r>
          </a:p>
          <a:p>
            <a:pPr lvl="1"/>
            <a:r>
              <a:rPr lang="en-US" dirty="0"/>
              <a:t>Fourth entry = Old Top-Left Y coordinate</a:t>
            </a:r>
          </a:p>
          <a:p>
            <a:pPr lvl="1"/>
            <a:r>
              <a:rPr lang="en-US" dirty="0"/>
              <a:t>Fifth entry =  Paddle Width</a:t>
            </a:r>
          </a:p>
          <a:p>
            <a:pPr lvl="1"/>
            <a:r>
              <a:rPr lang="en-US" dirty="0"/>
              <a:t>Sixth entry =  Paddle Height</a:t>
            </a:r>
          </a:p>
          <a:p>
            <a:pPr lvl="1"/>
            <a:r>
              <a:rPr lang="en-US" dirty="0"/>
              <a:t>Seventh entry = X-axis speed </a:t>
            </a:r>
          </a:p>
          <a:p>
            <a:pPr lvl="1"/>
            <a:r>
              <a:rPr lang="en-US" dirty="0"/>
              <a:t>Eight entry = X-axis direction </a:t>
            </a:r>
          </a:p>
          <a:p>
            <a:r>
              <a:rPr lang="en-US" dirty="0"/>
              <a:t>Tracking the previous position helps in only redrawing the paddle if it has moved (current and old coordinates do not match)</a:t>
            </a:r>
          </a:p>
          <a:p>
            <a:r>
              <a:rPr lang="en-US" dirty="0"/>
              <a:t>The paddle’s original position is stored separately in memory to restore it after losing a life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B4679C-4587-214C-38EB-CBB793DE8907}"/>
              </a:ext>
            </a:extLst>
          </p:cNvPr>
          <p:cNvSpPr txBox="1">
            <a:spLocks/>
          </p:cNvSpPr>
          <p:nvPr/>
        </p:nvSpPr>
        <p:spPr>
          <a:xfrm>
            <a:off x="471486" y="6713034"/>
            <a:ext cx="5915025" cy="561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Redrawing Elements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62AE775-11BD-5B27-E54E-B0E3A51AD91A}"/>
              </a:ext>
            </a:extLst>
          </p:cNvPr>
          <p:cNvSpPr txBox="1">
            <a:spLocks/>
          </p:cNvSpPr>
          <p:nvPr/>
        </p:nvSpPr>
        <p:spPr>
          <a:xfrm>
            <a:off x="471485" y="7274652"/>
            <a:ext cx="5915025" cy="3060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Due to the large number of game elements, it is essential to redraw elements only when necessary (even-driven):</a:t>
            </a:r>
          </a:p>
          <a:p>
            <a:pPr lvl="1"/>
            <a:r>
              <a:rPr lang="en-US"/>
              <a:t>Don’t redraw bricks. Only need to “redraw” a brick with black when it has been destroyed</a:t>
            </a:r>
          </a:p>
          <a:p>
            <a:pPr lvl="1"/>
            <a:r>
              <a:rPr lang="en-US"/>
              <a:t>Don’t redraw borders.</a:t>
            </a:r>
          </a:p>
          <a:p>
            <a:pPr lvl="1"/>
            <a:r>
              <a:rPr lang="en-US"/>
              <a:t>Draw the ball in every game loop iteration, as it will always move in active gameplay</a:t>
            </a:r>
          </a:p>
          <a:p>
            <a:pPr lvl="1"/>
            <a:r>
              <a:rPr lang="en-US"/>
              <a:t>Redraw the paddle only when the old and current positions don’t match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FFB6-1B84-1502-91AA-99CF9C9B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B808-0218-8D9F-793F-7460E371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3"/>
            <a:ext cx="5915025" cy="755941"/>
          </a:xfrm>
        </p:spPr>
        <p:txBody>
          <a:bodyPr>
            <a:normAutofit fontScale="90000"/>
          </a:bodyPr>
          <a:lstStyle/>
          <a:p>
            <a:r>
              <a:rPr lang="en-US" dirty="0"/>
              <a:t>Ball and Border Collision Detection and 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EBFE34-D16C-8926-48BD-D5E7B9C9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6" y="1405054"/>
            <a:ext cx="5915025" cy="4690946"/>
          </a:xfrm>
        </p:spPr>
        <p:txBody>
          <a:bodyPr>
            <a:normAutofit/>
          </a:bodyPr>
          <a:lstStyle/>
          <a:p>
            <a:r>
              <a:rPr lang="en-US" dirty="0"/>
              <a:t>Left border collision:</a:t>
            </a:r>
          </a:p>
          <a:p>
            <a:pPr lvl="1"/>
            <a:r>
              <a:rPr lang="en-US" dirty="0"/>
              <a:t>Ball (Top) Left &lt;= the left border X coordinate.</a:t>
            </a:r>
          </a:p>
          <a:p>
            <a:pPr lvl="1"/>
            <a:r>
              <a:rPr lang="en-US" dirty="0"/>
              <a:t>Action: Reverse ball’s X-axis direction and change its X coordinate to border’s X coordinate + 1 </a:t>
            </a:r>
          </a:p>
          <a:p>
            <a:r>
              <a:rPr lang="en-US" dirty="0"/>
              <a:t>Right border collision:</a:t>
            </a:r>
          </a:p>
          <a:p>
            <a:pPr lvl="1"/>
            <a:r>
              <a:rPr lang="en-US" dirty="0"/>
              <a:t>Detection: Ball (Top) Right &gt;= the right border X coordinate</a:t>
            </a:r>
          </a:p>
          <a:p>
            <a:pPr lvl="1"/>
            <a:r>
              <a:rPr lang="en-US" dirty="0"/>
              <a:t>Action: Reverse ball’s X-axis direction and change its X coordinate to border’s X coordinate – ball size – 1</a:t>
            </a:r>
          </a:p>
          <a:p>
            <a:r>
              <a:rPr lang="en-US" dirty="0"/>
              <a:t>Top border collision:</a:t>
            </a:r>
          </a:p>
          <a:p>
            <a:pPr lvl="1"/>
            <a:r>
              <a:rPr lang="en-US" dirty="0"/>
              <a:t>Detection: (Ball Top) Left&lt;= the top border Y coordinate.</a:t>
            </a:r>
          </a:p>
          <a:p>
            <a:pPr lvl="1"/>
            <a:r>
              <a:rPr lang="en-US" dirty="0"/>
              <a:t>Action: Reverse the ball’s Y-axis direction and update the ball’s current Y coordinate to the border’s Y coordinate + 1</a:t>
            </a:r>
            <a:endParaRPr lang="en-IN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114994B-3BF4-3DEB-B5C0-159AEC7A56DE}"/>
              </a:ext>
            </a:extLst>
          </p:cNvPr>
          <p:cNvSpPr txBox="1">
            <a:spLocks/>
          </p:cNvSpPr>
          <p:nvPr/>
        </p:nvSpPr>
        <p:spPr>
          <a:xfrm>
            <a:off x="471487" y="4832535"/>
            <a:ext cx="5915025" cy="697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880C-33BB-DA09-4185-8B9C3F0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D781-238E-D00F-DC1C-1F2C8E52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3"/>
            <a:ext cx="5915025" cy="755941"/>
          </a:xfrm>
        </p:spPr>
        <p:txBody>
          <a:bodyPr>
            <a:normAutofit fontScale="90000"/>
          </a:bodyPr>
          <a:lstStyle/>
          <a:p>
            <a:r>
              <a:rPr lang="en-US" dirty="0"/>
              <a:t>Ball and Paddle Collision Detection and 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CDF2F6-4E73-92AB-C0DB-6AC706DFF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6" y="1405053"/>
            <a:ext cx="5915025" cy="10786947"/>
          </a:xfrm>
        </p:spPr>
        <p:txBody>
          <a:bodyPr>
            <a:normAutofit/>
          </a:bodyPr>
          <a:lstStyle/>
          <a:p>
            <a:r>
              <a:rPr lang="en-US" dirty="0"/>
              <a:t>Paddle collision changes the ball’s X-axis speed and possibly its X-axis direction</a:t>
            </a:r>
          </a:p>
          <a:p>
            <a:r>
              <a:rPr lang="en-IN" dirty="0"/>
              <a:t>Cases where a ball and paddle collision is not possible:</a:t>
            </a:r>
          </a:p>
          <a:p>
            <a:pPr lvl="1"/>
            <a:r>
              <a:rPr lang="en-US" dirty="0"/>
              <a:t>If Ball bottom &lt; Paddle top, no collision</a:t>
            </a:r>
            <a:endParaRPr lang="en-IN" dirty="0"/>
          </a:p>
          <a:p>
            <a:pPr lvl="1"/>
            <a:r>
              <a:rPr lang="en-US" dirty="0"/>
              <a:t>If Ball top &gt; Paddle bottom, no collision</a:t>
            </a:r>
            <a:endParaRPr lang="en-IN" dirty="0"/>
          </a:p>
          <a:p>
            <a:pPr lvl="1"/>
            <a:r>
              <a:rPr lang="en-US" dirty="0"/>
              <a:t>If Ball right &lt; Paddle left, no collision</a:t>
            </a:r>
            <a:endParaRPr lang="en-IN" dirty="0"/>
          </a:p>
          <a:p>
            <a:pPr lvl="1"/>
            <a:r>
              <a:rPr lang="en-US" dirty="0"/>
              <a:t>If Ball left &gt; Paddle right, no collision</a:t>
            </a:r>
            <a:endParaRPr lang="en-IN" dirty="0"/>
          </a:p>
          <a:p>
            <a:r>
              <a:rPr lang="en-US" dirty="0"/>
              <a:t>Otherwise, there is a collision</a:t>
            </a:r>
          </a:p>
          <a:p>
            <a:r>
              <a:rPr lang="en-US" dirty="0"/>
              <a:t>If the ball collides with the left side of the paddle:</a:t>
            </a:r>
          </a:p>
          <a:p>
            <a:pPr lvl="1"/>
            <a:r>
              <a:rPr lang="en-US" dirty="0"/>
              <a:t>Change the ball’s X-axis direction to make it move left (if it’s not moving so already)</a:t>
            </a:r>
          </a:p>
          <a:p>
            <a:r>
              <a:rPr lang="en-US" dirty="0"/>
              <a:t>If the ball collides with the right side of the paddle:</a:t>
            </a:r>
          </a:p>
          <a:p>
            <a:pPr lvl="1"/>
            <a:r>
              <a:rPr lang="en-US" dirty="0"/>
              <a:t>Change the ball’s X-axis direction to make it move right (if it’s not moving so already)</a:t>
            </a:r>
          </a:p>
          <a:p>
            <a:r>
              <a:rPr lang="en-US" dirty="0"/>
              <a:t>The ball’s X-axis speed is calculated using linear interpolation.</a:t>
            </a:r>
            <a:endParaRPr lang="en-IN" dirty="0"/>
          </a:p>
          <a:p>
            <a:pPr marL="342900" lvl="1" indent="0" algn="ctr">
              <a:buNone/>
            </a:pPr>
            <a:r>
              <a:rPr lang="en-US" sz="1600" b="1" i="1" dirty="0"/>
              <a:t>Linear interpolation formula: y = y1 + ((x - x1) * (y2 - y1)) / (x2 - x1))</a:t>
            </a:r>
            <a:endParaRPr lang="en-IN" sz="1600" dirty="0"/>
          </a:p>
          <a:p>
            <a:pPr lvl="1"/>
            <a:r>
              <a:rPr lang="en-US" dirty="0"/>
              <a:t>y = New X speed</a:t>
            </a:r>
            <a:endParaRPr lang="en-IN" dirty="0"/>
          </a:p>
          <a:p>
            <a:pPr lvl="1"/>
            <a:r>
              <a:rPr lang="en-US" dirty="0"/>
              <a:t>y1 = Ball min X speed</a:t>
            </a:r>
            <a:endParaRPr lang="en-IN" dirty="0"/>
          </a:p>
          <a:p>
            <a:pPr lvl="1"/>
            <a:r>
              <a:rPr lang="en-US" dirty="0"/>
              <a:t>y2 = Ball max X speed</a:t>
            </a:r>
            <a:endParaRPr lang="en-IN" dirty="0"/>
          </a:p>
          <a:p>
            <a:pPr lvl="1"/>
            <a:r>
              <a:rPr lang="en-US" dirty="0"/>
              <a:t>x = offset (between ball and paddle center) = Ball center X – Paddle center X</a:t>
            </a:r>
            <a:endParaRPr lang="en-IN" dirty="0"/>
          </a:p>
          <a:p>
            <a:pPr lvl="1"/>
            <a:r>
              <a:rPr lang="en-US" dirty="0"/>
              <a:t>x1 = start of input range = start of paddle from either side = 0</a:t>
            </a:r>
            <a:endParaRPr lang="en-IN" dirty="0"/>
          </a:p>
          <a:p>
            <a:pPr lvl="1"/>
            <a:r>
              <a:rPr lang="en-US" dirty="0"/>
              <a:t>x2 = end of input range = paddle width / 2</a:t>
            </a:r>
            <a:endParaRPr lang="en-IN" dirty="0"/>
          </a:p>
          <a:p>
            <a:pPr lvl="1"/>
            <a:r>
              <a:rPr lang="en-US" dirty="0"/>
              <a:t>Absolute values of offset will be used because direction is handled elsewhere</a:t>
            </a:r>
            <a:endParaRPr lang="en-IN" dirty="0"/>
          </a:p>
          <a:p>
            <a:pPr marL="0" indent="0" algn="ctr">
              <a:buNone/>
            </a:pPr>
            <a:r>
              <a:rPr lang="en-US" b="1" i="1" dirty="0"/>
              <a:t>New X speed = Ball min X speed + (|Offset| * (max X speed - min X speed)) / (Paddle width / 2</a:t>
            </a:r>
          </a:p>
          <a:p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F8AEE30-EA69-BA36-387D-A91D6B5A0770}"/>
              </a:ext>
            </a:extLst>
          </p:cNvPr>
          <p:cNvSpPr txBox="1">
            <a:spLocks/>
          </p:cNvSpPr>
          <p:nvPr/>
        </p:nvSpPr>
        <p:spPr>
          <a:xfrm>
            <a:off x="471487" y="4832535"/>
            <a:ext cx="5915025" cy="697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5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0EA40-9B07-5701-E66A-78ACA0A8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2723-D0A4-D366-BA36-51013EC9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3"/>
            <a:ext cx="5915025" cy="755941"/>
          </a:xfrm>
        </p:spPr>
        <p:txBody>
          <a:bodyPr>
            <a:normAutofit fontScale="90000"/>
          </a:bodyPr>
          <a:lstStyle/>
          <a:p>
            <a:r>
              <a:rPr lang="en-US" dirty="0"/>
              <a:t>Ball and Brick Collision Detection and 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FBF7D9-B998-BEFB-98CB-E5A972E8D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6" y="1405054"/>
            <a:ext cx="5915025" cy="8753708"/>
          </a:xfrm>
        </p:spPr>
        <p:txBody>
          <a:bodyPr>
            <a:normAutofit/>
          </a:bodyPr>
          <a:lstStyle/>
          <a:p>
            <a:r>
              <a:rPr lang="en-US" sz="2000" dirty="0"/>
              <a:t>Spatial hashing is used to identify which brick in the grid (area enclosed by the borders) the ball may be colliding with</a:t>
            </a:r>
          </a:p>
          <a:p>
            <a:pPr lvl="1"/>
            <a:r>
              <a:rPr lang="en-US" dirty="0"/>
              <a:t>Column index = (Ball X - Grid X) / Brick Width</a:t>
            </a:r>
            <a:endParaRPr lang="en-IN" dirty="0"/>
          </a:p>
          <a:p>
            <a:pPr lvl="1"/>
            <a:r>
              <a:rPr lang="en-US" dirty="0"/>
              <a:t>Row index = (Ball Y - Grid Y) / Brick Height</a:t>
            </a:r>
          </a:p>
          <a:p>
            <a:r>
              <a:rPr lang="en-US" sz="2000" dirty="0"/>
              <a:t>Only the brick at that row index, column index is selected for checking</a:t>
            </a:r>
          </a:p>
          <a:p>
            <a:r>
              <a:rPr lang="en-US" sz="2000" dirty="0"/>
              <a:t>Before actual collision detection logic, it is checked whether the brick has already been destroyed or not by looking into the bricks left array.</a:t>
            </a:r>
          </a:p>
          <a:p>
            <a:pPr lvl="1"/>
            <a:r>
              <a:rPr lang="en-US" dirty="0"/>
              <a:t>If it has been destroyed, we leave the function</a:t>
            </a:r>
          </a:p>
          <a:p>
            <a:r>
              <a:rPr lang="en-US" sz="2000" dirty="0"/>
              <a:t>Collision conditions:</a:t>
            </a:r>
          </a:p>
          <a:p>
            <a:pPr lvl="1"/>
            <a:r>
              <a:rPr lang="en-US" dirty="0"/>
              <a:t>Ball left edge &gt;= Brick right edge, no collision</a:t>
            </a:r>
            <a:endParaRPr lang="en-IN" dirty="0"/>
          </a:p>
          <a:p>
            <a:pPr lvl="1"/>
            <a:r>
              <a:rPr lang="en-US" dirty="0"/>
              <a:t>Ball right edge &lt;= Brick left edge, no collision</a:t>
            </a:r>
            <a:endParaRPr lang="en-IN" dirty="0"/>
          </a:p>
          <a:p>
            <a:pPr lvl="1"/>
            <a:r>
              <a:rPr lang="en-US" dirty="0"/>
              <a:t>Ball top edge &gt;= Brick bottom edge, no collision</a:t>
            </a:r>
            <a:endParaRPr lang="en-IN" dirty="0"/>
          </a:p>
          <a:p>
            <a:pPr lvl="1"/>
            <a:r>
              <a:rPr lang="en-US" dirty="0"/>
              <a:t>Ball bottom edge &lt;= Brick top edge, no collision</a:t>
            </a:r>
          </a:p>
          <a:p>
            <a:r>
              <a:rPr lang="en-US" sz="2000" dirty="0"/>
              <a:t>Otherwise, there is a collision</a:t>
            </a:r>
          </a:p>
          <a:p>
            <a:r>
              <a:rPr lang="en-US" sz="2000" dirty="0"/>
              <a:t>On collision: </a:t>
            </a:r>
          </a:p>
          <a:p>
            <a:pPr lvl="1"/>
            <a:r>
              <a:rPr lang="en-US" dirty="0"/>
              <a:t>The brick is marked as destroyed with a 1 in the bricks left array</a:t>
            </a:r>
          </a:p>
          <a:p>
            <a:pPr lvl="1"/>
            <a:r>
              <a:rPr lang="en-US" dirty="0"/>
              <a:t>A black brick is drawn over it</a:t>
            </a:r>
          </a:p>
          <a:p>
            <a:r>
              <a:rPr lang="en-US" sz="2000" dirty="0"/>
              <a:t>X and Y overlap is used to determine the side of the brick the ball hit</a:t>
            </a:r>
          </a:p>
          <a:p>
            <a:pPr marL="342900" lvl="1" indent="0" algn="ctr">
              <a:buNone/>
            </a:pPr>
            <a:r>
              <a:rPr lang="en-US" dirty="0"/>
              <a:t>X overlap = min(Ball right, Brick right) - max(Ball left, Brick left)</a:t>
            </a:r>
          </a:p>
          <a:p>
            <a:pPr marL="342900" lvl="1" indent="0" algn="ctr">
              <a:buNone/>
            </a:pPr>
            <a:r>
              <a:rPr lang="en-US" dirty="0"/>
              <a:t>Y overlap = min(Ball bottom, Brick bottom) - max(Ball top, Brick top)</a:t>
            </a:r>
            <a:endParaRPr lang="en-IN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5B1A9CC-6DC9-2327-B822-6F46FAB0288D}"/>
              </a:ext>
            </a:extLst>
          </p:cNvPr>
          <p:cNvSpPr txBox="1">
            <a:spLocks/>
          </p:cNvSpPr>
          <p:nvPr/>
        </p:nvSpPr>
        <p:spPr>
          <a:xfrm>
            <a:off x="471487" y="4832535"/>
            <a:ext cx="5915025" cy="697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5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7664-53E8-1425-7F17-A435A67D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9194-A44C-76E8-7FF7-FD4EFB033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4" cy="744788"/>
          </a:xfrm>
        </p:spPr>
        <p:txBody>
          <a:bodyPr>
            <a:normAutofit fontScale="90000"/>
          </a:bodyPr>
          <a:lstStyle/>
          <a:p>
            <a:r>
              <a:rPr lang="en-US" dirty="0"/>
              <a:t>Ball and Brick Collision Detection and Action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768A85-5813-33AD-7125-A43665F00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405053"/>
            <a:ext cx="5915024" cy="4690947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If Ball center X &lt; Brick center X, the ball hits the left side</a:t>
            </a:r>
            <a:endParaRPr lang="en-IN" sz="2000" dirty="0"/>
          </a:p>
          <a:p>
            <a:pPr lvl="1"/>
            <a:r>
              <a:rPr lang="en-US" sz="2000" dirty="0"/>
              <a:t>Else, the ball hit the right side</a:t>
            </a:r>
            <a:endParaRPr lang="en-IN" sz="2000" dirty="0"/>
          </a:p>
          <a:p>
            <a:pPr lvl="0"/>
            <a:r>
              <a:rPr lang="en-US" sz="2000" dirty="0"/>
              <a:t>If Ball center Y &lt; Brick center Y, the ball hit the top side</a:t>
            </a:r>
            <a:endParaRPr lang="en-IN" sz="2000" dirty="0"/>
          </a:p>
          <a:p>
            <a:pPr lvl="1"/>
            <a:r>
              <a:rPr lang="en-US" sz="2000" dirty="0"/>
              <a:t>Else, the ball hit the bottom side</a:t>
            </a:r>
          </a:p>
          <a:p>
            <a:r>
              <a:rPr lang="en-US" sz="2000" dirty="0"/>
              <a:t>Collision with the top of the brick:</a:t>
            </a:r>
            <a:endParaRPr lang="en-IN" sz="2000" dirty="0"/>
          </a:p>
          <a:p>
            <a:pPr lvl="1"/>
            <a:r>
              <a:rPr lang="en-US" sz="1600" dirty="0"/>
              <a:t>Reverse the Y-axis direction if the ball is not moving up</a:t>
            </a:r>
            <a:endParaRPr lang="en-IN" sz="1600" dirty="0"/>
          </a:p>
          <a:p>
            <a:pPr lvl="0"/>
            <a:r>
              <a:rPr lang="en-US" sz="2000" dirty="0"/>
              <a:t>Collision with the bottom of the brick:</a:t>
            </a:r>
            <a:endParaRPr lang="en-IN" sz="2000" dirty="0"/>
          </a:p>
          <a:p>
            <a:pPr lvl="1"/>
            <a:r>
              <a:rPr lang="en-US" sz="1600" dirty="0"/>
              <a:t>Reverse the Y-axis direction if the ball is not moving down</a:t>
            </a:r>
            <a:endParaRPr lang="en-IN" sz="1600" dirty="0"/>
          </a:p>
          <a:p>
            <a:pPr lvl="0"/>
            <a:r>
              <a:rPr lang="en-US" sz="2000" dirty="0"/>
              <a:t>Collision with the right side of the brick:</a:t>
            </a:r>
            <a:endParaRPr lang="en-IN" sz="2000" dirty="0"/>
          </a:p>
          <a:p>
            <a:pPr lvl="1"/>
            <a:r>
              <a:rPr lang="en-US" sz="1600" dirty="0"/>
              <a:t>Reverse the X-axis direction if the ball is not moving right</a:t>
            </a:r>
            <a:endParaRPr lang="en-IN" sz="1600" dirty="0"/>
          </a:p>
          <a:p>
            <a:pPr lvl="0"/>
            <a:r>
              <a:rPr lang="en-US" sz="2000" dirty="0"/>
              <a:t>Collision with the left side of the brick:</a:t>
            </a:r>
            <a:endParaRPr lang="en-IN" sz="2000" dirty="0"/>
          </a:p>
          <a:p>
            <a:pPr lvl="1"/>
            <a:r>
              <a:rPr lang="en-US" sz="1600" dirty="0"/>
              <a:t>Reverse the X-axis direction if the ball is not moving left</a:t>
            </a:r>
            <a:endParaRPr lang="en-IN" sz="1600" dirty="0"/>
          </a:p>
          <a:p>
            <a:pPr lvl="1"/>
            <a:endParaRPr lang="en-IN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28DB929-8644-6E54-70AC-058F15CFD826}"/>
              </a:ext>
            </a:extLst>
          </p:cNvPr>
          <p:cNvSpPr txBox="1">
            <a:spLocks/>
          </p:cNvSpPr>
          <p:nvPr/>
        </p:nvSpPr>
        <p:spPr>
          <a:xfrm>
            <a:off x="471487" y="4832535"/>
            <a:ext cx="5915025" cy="697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459F8E-0D2A-DA56-33CB-6C4816F7EB85}"/>
              </a:ext>
            </a:extLst>
          </p:cNvPr>
          <p:cNvSpPr txBox="1">
            <a:spLocks/>
          </p:cNvSpPr>
          <p:nvPr/>
        </p:nvSpPr>
        <p:spPr>
          <a:xfrm>
            <a:off x="471487" y="6096000"/>
            <a:ext cx="5915024" cy="744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Updating Score and Lives Left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28C2D69-0912-92A8-F652-E58F0E8B3C53}"/>
              </a:ext>
            </a:extLst>
          </p:cNvPr>
          <p:cNvSpPr txBox="1">
            <a:spLocks/>
          </p:cNvSpPr>
          <p:nvPr/>
        </p:nvSpPr>
        <p:spPr>
          <a:xfrm>
            <a:off x="471485" y="6851939"/>
            <a:ext cx="5915024" cy="4690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On destroying the brick, the score is updated in memory.</a:t>
            </a:r>
          </a:p>
          <a:p>
            <a:r>
              <a:rPr lang="en-US" sz="2000" dirty="0"/>
              <a:t>When the ball falls below the paddle (checked during paddle collision), the lives left value is updated in memory</a:t>
            </a:r>
          </a:p>
          <a:p>
            <a:r>
              <a:rPr lang="en-US" sz="2000" dirty="0"/>
              <a:t>The old and new values for both are kept track of in memory.</a:t>
            </a:r>
          </a:p>
          <a:p>
            <a:r>
              <a:rPr lang="en-US" sz="2000" dirty="0"/>
              <a:t>If the old and new values don’t match, the relevant screen portions are cleared with an empty string, and new values are displayed</a:t>
            </a:r>
          </a:p>
          <a:p>
            <a:r>
              <a:rPr lang="en-US" sz="2000" dirty="0"/>
              <a:t>Old values are updated to match the new (current) values</a:t>
            </a:r>
          </a:p>
          <a:p>
            <a:r>
              <a:rPr lang="en-US" sz="2000" dirty="0"/>
              <a:t>Upon losing or winning, the appropriate message is displayed.</a:t>
            </a:r>
            <a:endParaRPr lang="en-IN" sz="1300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441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8AD4-CBAB-DD4C-DE8B-21354413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9A59-5541-D6BB-8E26-3301D59E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4" cy="744788"/>
          </a:xfrm>
        </p:spPr>
        <p:txBody>
          <a:bodyPr>
            <a:normAutofit/>
          </a:bodyPr>
          <a:lstStyle/>
          <a:p>
            <a:r>
              <a:rPr lang="en-US" dirty="0"/>
              <a:t>Audio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184E79-ECF9-CF9A-B8A8-B338D4F7E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405053"/>
            <a:ext cx="5915024" cy="4690947"/>
          </a:xfrm>
        </p:spPr>
        <p:txBody>
          <a:bodyPr>
            <a:normAutofit/>
          </a:bodyPr>
          <a:lstStyle/>
          <a:p>
            <a:r>
              <a:rPr lang="en-IN" dirty="0"/>
              <a:t>Notes are played for short durations using syscall 31, which does not block code execution, when the ball collides with any game element</a:t>
            </a:r>
          </a:p>
          <a:p>
            <a:pPr lvl="1"/>
            <a:r>
              <a:rPr lang="en-IN" dirty="0"/>
              <a:t>The note played is different for each type of game element</a:t>
            </a:r>
          </a:p>
          <a:p>
            <a:r>
              <a:rPr lang="en-IN" dirty="0"/>
              <a:t>Syscall 33 is used to play winning and losing tunes at the end of game play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D43BB81-D3BF-AF4C-B973-947F8EE22AA4}"/>
              </a:ext>
            </a:extLst>
          </p:cNvPr>
          <p:cNvSpPr txBox="1">
            <a:spLocks/>
          </p:cNvSpPr>
          <p:nvPr/>
        </p:nvSpPr>
        <p:spPr>
          <a:xfrm>
            <a:off x="471487" y="4832535"/>
            <a:ext cx="5915025" cy="697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3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1852</Words>
  <Application>Microsoft Office PowerPoint</Application>
  <PresentationFormat>Widescreen</PresentationFormat>
  <Paragraphs>200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CMPEN 351 Final Project Presentation</vt:lpstr>
      <vt:lpstr>Peripherals</vt:lpstr>
      <vt:lpstr>Rules</vt:lpstr>
      <vt:lpstr>Game Elements</vt:lpstr>
      <vt:lpstr>Game Flags</vt:lpstr>
      <vt:lpstr>Color</vt:lpstr>
      <vt:lpstr>Bricks</vt:lpstr>
      <vt:lpstr>Borders</vt:lpstr>
      <vt:lpstr>Paddle</vt:lpstr>
      <vt:lpstr>Ball and Border Collision Detection and Action</vt:lpstr>
      <vt:lpstr>Ball and Paddle Collision Detection and Action</vt:lpstr>
      <vt:lpstr>Ball and Brick Collision Detection and Action</vt:lpstr>
      <vt:lpstr>Ball and Brick Collision Detection and Action (continued)</vt:lpstr>
      <vt:lpstr>Audio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Rathod, Dipen Arun</dc:creator>
  <cp:lastModifiedBy>Rathod, Dipen Arun</cp:lastModifiedBy>
  <cp:revision>40</cp:revision>
  <dcterms:created xsi:type="dcterms:W3CDTF">2025-08-05T16:38:33Z</dcterms:created>
  <dcterms:modified xsi:type="dcterms:W3CDTF">2025-08-05T18:54:39Z</dcterms:modified>
</cp:coreProperties>
</file>